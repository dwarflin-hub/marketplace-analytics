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6" r:id="rId2"/>
    <p:sldId id="262" r:id="rId3"/>
    <p:sldId id="263" r:id="rId4"/>
    <p:sldId id="273" r:id="rId5"/>
    <p:sldId id="274" r:id="rId6"/>
    <p:sldId id="264" r:id="rId7"/>
    <p:sldId id="265" r:id="rId8"/>
    <p:sldId id="266" r:id="rId9"/>
    <p:sldId id="268" r:id="rId10"/>
    <p:sldId id="267" r:id="rId11"/>
    <p:sldId id="270" r:id="rId12"/>
    <p:sldId id="271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BC43C-AC4D-425E-8FB4-4AFF20D46A50}" type="datetimeFigureOut">
              <a:rPr lang="ru-RU" smtClean="0"/>
              <a:t>20.07.2026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BCA32E-3167-4F71-A4C7-C8808E259F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5479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BCA32E-3167-4F71-A4C7-C8808E259F4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650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20.07.2026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20.07.2026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20.07.2026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ru-RU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Вставка рисунка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20.07.2026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39552" y="1412776"/>
            <a:ext cx="8229600" cy="1828800"/>
          </a:xfrm>
        </p:spPr>
        <p:txBody>
          <a:bodyPr>
            <a:normAutofit fontScale="90000"/>
            <a:scene3d>
              <a:camera prst="orthographicFront"/>
              <a:lightRig rig="soft" dir="t">
                <a:rot lat="0" lon="0" rev="17220000"/>
              </a:lightRig>
            </a:scene3d>
            <a:sp3d prstMaterial="softEdge"/>
          </a:bodyPr>
          <a:lstStyle/>
          <a:p>
            <a:r>
              <a:rPr lang="ru-RU" b="0" dirty="0" smtClean="0">
                <a:effectLst/>
              </a:rPr>
              <a:t>Оптимизация ассортиментной матрицы </a:t>
            </a:r>
            <a:r>
              <a:rPr lang="ru-RU" b="0" dirty="0" err="1" smtClean="0">
                <a:effectLst/>
              </a:rPr>
              <a:t>маркетплейса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31640" y="5229200"/>
            <a:ext cx="6400800" cy="719194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Выполнил: Шабалин Линар</a:t>
            </a:r>
            <a:endParaRPr lang="en-US" dirty="0" smtClean="0">
              <a:solidFill>
                <a:schemeClr val="bg1"/>
              </a:solidFill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23528" y="3861048"/>
            <a:ext cx="8229600" cy="604664"/>
          </a:xfrm>
          <a:prstGeom prst="rect">
            <a:avLst/>
          </a:prstGeom>
        </p:spPr>
        <p:txBody>
          <a:bodyPr vert="horz" lIns="45720" tIns="0" rIns="45720" bIns="0" anchor="b">
            <a:normAutofit fontScale="97500"/>
            <a:scene3d>
              <a:camera prst="orthographicFront"/>
              <a:lightRig rig="soft" dir="t">
                <a:rot lat="0" lon="0" rev="17220000"/>
              </a:lightRig>
            </a:scene3d>
            <a:sp3d prstMaterial="softEdge"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800" b="1" kern="1200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0" dirty="0" smtClean="0">
                <a:effectLst/>
              </a:rPr>
              <a:t>Анализ продаж за 2023 год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333998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dirty="0" smtClean="0">
                <a:effectLst/>
              </a:rPr>
              <a:t>ЦЕЛЬ И ДАННЫЕ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Цель:</a:t>
            </a:r>
            <a:r>
              <a:rPr lang="ru-RU" dirty="0">
                <a:solidFill>
                  <a:schemeClr val="bg1"/>
                </a:solidFill>
              </a:rPr>
              <a:t> выявить товары, которые следует вывести из ассортимента, и предложить меры для повышения эффективности ассортимента.</a:t>
            </a:r>
          </a:p>
          <a:p>
            <a:r>
              <a:rPr lang="ru-RU" b="1" dirty="0">
                <a:solidFill>
                  <a:schemeClr val="bg1"/>
                </a:solidFill>
              </a:rPr>
              <a:t>Данные:</a:t>
            </a:r>
            <a:r>
              <a:rPr lang="ru-RU" dirty="0">
                <a:solidFill>
                  <a:schemeClr val="bg1"/>
                </a:solidFill>
              </a:rPr>
              <a:t> продажи за 2023 год (всего </a:t>
            </a:r>
            <a:r>
              <a:rPr lang="ru-RU" dirty="0" smtClean="0">
                <a:solidFill>
                  <a:schemeClr val="bg1"/>
                </a:solidFill>
              </a:rPr>
              <a:t>17598 </a:t>
            </a:r>
            <a:r>
              <a:rPr lang="ru-RU" dirty="0">
                <a:solidFill>
                  <a:schemeClr val="bg1"/>
                </a:solidFill>
              </a:rPr>
              <a:t>записей, </a:t>
            </a:r>
            <a:r>
              <a:rPr lang="ru-RU" dirty="0" smtClean="0">
                <a:solidFill>
                  <a:schemeClr val="bg1"/>
                </a:solidFill>
              </a:rPr>
              <a:t>15632 </a:t>
            </a:r>
            <a:r>
              <a:rPr lang="ru-RU" dirty="0">
                <a:solidFill>
                  <a:schemeClr val="bg1"/>
                </a:solidFill>
              </a:rPr>
              <a:t>уникальных товаров).</a:t>
            </a:r>
          </a:p>
          <a:p>
            <a:r>
              <a:rPr lang="ru-RU" b="1" dirty="0">
                <a:solidFill>
                  <a:schemeClr val="bg1"/>
                </a:solidFill>
              </a:rPr>
              <a:t>Методы:</a:t>
            </a:r>
            <a:r>
              <a:rPr lang="ru-RU" dirty="0">
                <a:solidFill>
                  <a:schemeClr val="bg1"/>
                </a:solidFill>
              </a:rPr>
              <a:t> ABC-анализ по выручке, BCG-матрица (доля в выручке vs доля в количестве), анализ скидок.</a:t>
            </a:r>
          </a:p>
          <a:p>
            <a:pPr marL="13716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6437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dirty="0" smtClean="0">
                <a:effectLst/>
              </a:rPr>
              <a:t>АВС - АНАЛИЗ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484784"/>
            <a:ext cx="8352928" cy="4752528"/>
          </a:xfrm>
        </p:spPr>
      </p:pic>
    </p:spTree>
    <p:extLst>
      <p:ext uri="{BB962C8B-B14F-4D97-AF65-F5344CB8AC3E}">
        <p14:creationId xmlns:p14="http://schemas.microsoft.com/office/powerpoint/2010/main" val="3872139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ABC – </a:t>
            </a:r>
            <a:r>
              <a:rPr lang="ru-RU" dirty="0" smtClean="0"/>
              <a:t>АНАЛИЗ: РАСПРЕДЕЛЕНИЕ ТОВАРОВ ПО ГРУППАМ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68" t="33800" r="35322" b="13154"/>
          <a:stretch/>
        </p:blipFill>
        <p:spPr>
          <a:xfrm>
            <a:off x="2339752" y="2007515"/>
            <a:ext cx="4680520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944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ABC – </a:t>
            </a:r>
            <a:r>
              <a:rPr lang="ru-RU" dirty="0" smtClean="0"/>
              <a:t>АНАЛИЗ: РАСПРЕДЕЛЕНИЕ ТОВАРОВ ПО ГРУППАМ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932040" y="1988840"/>
            <a:ext cx="3754760" cy="4320520"/>
          </a:xfrm>
        </p:spPr>
        <p:txBody>
          <a:bodyPr>
            <a:normAutofit fontScale="77500" lnSpcReduction="20000"/>
          </a:bodyPr>
          <a:lstStyle/>
          <a:p>
            <a:pPr marL="137160" indent="0">
              <a:buNone/>
            </a:pPr>
            <a:r>
              <a:rPr lang="ru-RU" b="1" dirty="0">
                <a:solidFill>
                  <a:schemeClr val="bg1"/>
                </a:solidFill>
              </a:rPr>
              <a:t>Вывод: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Группа A </a:t>
            </a:r>
            <a:r>
              <a:rPr lang="ru-RU" dirty="0" smtClean="0">
                <a:solidFill>
                  <a:schemeClr val="bg1"/>
                </a:solidFill>
              </a:rPr>
              <a:t>(54% </a:t>
            </a:r>
            <a:r>
              <a:rPr lang="ru-RU" dirty="0">
                <a:solidFill>
                  <a:schemeClr val="bg1"/>
                </a:solidFill>
              </a:rPr>
              <a:t>товаров) даёт 80% выручки – это «золотой фонд», его нужно поддерживать.</a:t>
            </a:r>
          </a:p>
          <a:p>
            <a:r>
              <a:rPr lang="ru-RU" dirty="0">
                <a:solidFill>
                  <a:schemeClr val="bg1"/>
                </a:solidFill>
              </a:rPr>
              <a:t>Группа B </a:t>
            </a:r>
            <a:r>
              <a:rPr lang="ru-RU" dirty="0" smtClean="0">
                <a:solidFill>
                  <a:schemeClr val="bg1"/>
                </a:solidFill>
              </a:rPr>
              <a:t>(23% </a:t>
            </a:r>
            <a:r>
              <a:rPr lang="ru-RU" dirty="0">
                <a:solidFill>
                  <a:schemeClr val="bg1"/>
                </a:solidFill>
              </a:rPr>
              <a:t>товаров) – 15% выручки, требует точечных акций.</a:t>
            </a:r>
          </a:p>
          <a:p>
            <a:r>
              <a:rPr lang="ru-RU" dirty="0">
                <a:solidFill>
                  <a:schemeClr val="bg1"/>
                </a:solidFill>
              </a:rPr>
              <a:t>Группа C </a:t>
            </a:r>
            <a:r>
              <a:rPr lang="ru-RU" dirty="0" smtClean="0">
                <a:solidFill>
                  <a:schemeClr val="bg1"/>
                </a:solidFill>
              </a:rPr>
              <a:t>(23% </a:t>
            </a:r>
            <a:r>
              <a:rPr lang="ru-RU" dirty="0">
                <a:solidFill>
                  <a:schemeClr val="bg1"/>
                </a:solidFill>
              </a:rPr>
              <a:t>товаров) – всего 5% выручки, это кандидаты на вывод.</a:t>
            </a:r>
          </a:p>
          <a:p>
            <a:pPr marL="137160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29" t="22617" r="24355" b="14875"/>
          <a:stretch/>
        </p:blipFill>
        <p:spPr>
          <a:xfrm>
            <a:off x="251520" y="1772816"/>
            <a:ext cx="4870738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5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1498178"/>
          </a:xfrm>
        </p:spPr>
        <p:txBody>
          <a:bodyPr>
            <a:normAutofit/>
          </a:bodyPr>
          <a:lstStyle/>
          <a:p>
            <a:r>
              <a:rPr lang="ru-RU" b="0" dirty="0" smtClean="0">
                <a:effectLst/>
              </a:rPr>
              <a:t>МАТРИЦА </a:t>
            </a:r>
            <a:r>
              <a:rPr lang="en-US" b="0" dirty="0" smtClean="0">
                <a:effectLst/>
              </a:rPr>
              <a:t>BCG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29" y="1600200"/>
            <a:ext cx="7668187" cy="4709119"/>
          </a:xfrm>
        </p:spPr>
      </p:pic>
    </p:spTree>
    <p:extLst>
      <p:ext uri="{BB962C8B-B14F-4D97-AF65-F5344CB8AC3E}">
        <p14:creationId xmlns:p14="http://schemas.microsoft.com/office/powerpoint/2010/main" val="2902892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137160" indent="0">
              <a:buNone/>
            </a:pPr>
            <a:r>
              <a:rPr lang="ru-RU" b="1" dirty="0">
                <a:solidFill>
                  <a:schemeClr val="bg1"/>
                </a:solidFill>
              </a:rPr>
              <a:t>Интерпретация квадрантов:</a:t>
            </a:r>
            <a:endParaRPr lang="ru-RU" dirty="0">
              <a:solidFill>
                <a:schemeClr val="bg1"/>
              </a:solidFill>
            </a:endParaRPr>
          </a:p>
          <a:p>
            <a:pPr lvl="1"/>
            <a:r>
              <a:rPr lang="ru-RU" b="1" dirty="0">
                <a:solidFill>
                  <a:schemeClr val="bg1"/>
                </a:solidFill>
              </a:rPr>
              <a:t>Звёзды</a:t>
            </a:r>
            <a:r>
              <a:rPr lang="ru-RU" dirty="0">
                <a:solidFill>
                  <a:schemeClr val="bg1"/>
                </a:solidFill>
              </a:rPr>
              <a:t> (верхний правый): высокая доля в выручке и количестве – инвестировать, расширять.</a:t>
            </a:r>
          </a:p>
          <a:p>
            <a:pPr lvl="1"/>
            <a:r>
              <a:rPr lang="ru-RU" b="1" dirty="0">
                <a:solidFill>
                  <a:schemeClr val="bg1"/>
                </a:solidFill>
              </a:rPr>
              <a:t>Дойные коровы</a:t>
            </a:r>
            <a:r>
              <a:rPr lang="ru-RU" dirty="0">
                <a:solidFill>
                  <a:schemeClr val="bg1"/>
                </a:solidFill>
              </a:rPr>
              <a:t> (нижний правый): высокая доля в выручке, низкая в количестве – высокомаржинальные, поддерживать.</a:t>
            </a:r>
          </a:p>
          <a:p>
            <a:pPr lvl="1"/>
            <a:r>
              <a:rPr lang="ru-RU" b="1" dirty="0">
                <a:solidFill>
                  <a:schemeClr val="bg1"/>
                </a:solidFill>
              </a:rPr>
              <a:t>Вопросительные знаки</a:t>
            </a:r>
            <a:r>
              <a:rPr lang="ru-RU" dirty="0">
                <a:solidFill>
                  <a:schemeClr val="bg1"/>
                </a:solidFill>
              </a:rPr>
              <a:t> (верхний левый): низкая доля, но рост – нужны акции для увеличения доли.</a:t>
            </a:r>
          </a:p>
          <a:p>
            <a:pPr lvl="1"/>
            <a:r>
              <a:rPr lang="ru-RU" b="1" dirty="0">
                <a:solidFill>
                  <a:schemeClr val="bg1"/>
                </a:solidFill>
              </a:rPr>
              <a:t>Собаки</a:t>
            </a:r>
            <a:r>
              <a:rPr lang="ru-RU" dirty="0">
                <a:solidFill>
                  <a:schemeClr val="bg1"/>
                </a:solidFill>
              </a:rPr>
              <a:t> (нижний левый): низкая доля и низкий рост – выводить.</a:t>
            </a:r>
          </a:p>
          <a:p>
            <a:pPr marL="137160" indent="0">
              <a:buNone/>
            </a:pPr>
            <a:r>
              <a:rPr lang="ru-RU" b="1" dirty="0">
                <a:solidFill>
                  <a:schemeClr val="bg1"/>
                </a:solidFill>
              </a:rPr>
              <a:t>Вывод: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Много товаров в зоне «собак» (низкая доля, низкий рост) – их и будем выводить.</a:t>
            </a:r>
          </a:p>
          <a:p>
            <a:pPr marL="137160" indent="0">
              <a:buNone/>
            </a:pP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95536" y="53412"/>
            <a:ext cx="8435280" cy="1498178"/>
          </a:xfrm>
          <a:prstGeom prst="rect">
            <a:avLst/>
          </a:prstGeom>
        </p:spPr>
        <p:txBody>
          <a:bodyPr vert="horz" anchor="ctr">
            <a:normAutofit fontScale="97500"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100" b="1" kern="1200" cap="none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b="0" dirty="0" smtClean="0">
                <a:effectLst/>
              </a:rPr>
              <a:t>МАТРИЦА </a:t>
            </a:r>
            <a:r>
              <a:rPr lang="en-US" b="0" dirty="0" smtClean="0">
                <a:effectLst/>
              </a:rPr>
              <a:t>BCG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6660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dirty="0" smtClean="0">
                <a:effectLst/>
              </a:rPr>
              <a:t>ТОВАРЫ ДЛЯ ВЫВОДА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708134"/>
              </p:ext>
            </p:extLst>
          </p:nvPr>
        </p:nvGraphicFramePr>
        <p:xfrm>
          <a:off x="1331640" y="1628800"/>
          <a:ext cx="7200800" cy="4271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product_id,total_price,avg_discount_rate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39311,14077550.0,0.4349872867757782</a:t>
                      </a: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24079,14077337.0,0.5119107932734465</a:t>
                      </a: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8323,14076456.0,0.5438225416732586</a:t>
                      </a: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43447,14076140.0,0.5006937919827739</a:t>
                      </a: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26004,14075697.0,0.5145866177540626</a:t>
                      </a: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3089,14075397.0,0.5414312794303818</a:t>
                      </a: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49844,14075170.0,0.5820863392191122</a:t>
                      </a: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13844,14074336.0,0.4395715195344409</a:t>
                      </a: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37451,14071949.0,0.5668645136262244</a:t>
                      </a: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24390,14071278.0,0.5509919848840399</a:t>
                      </a: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1379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570186"/>
          </a:xfrm>
        </p:spPr>
        <p:txBody>
          <a:bodyPr>
            <a:normAutofit/>
          </a:bodyPr>
          <a:lstStyle/>
          <a:p>
            <a:r>
              <a:rPr lang="ru-RU" b="0" dirty="0" smtClean="0">
                <a:effectLst/>
              </a:rPr>
              <a:t>ТОВАРЫ ДЛЯ ВЫВОДА</a:t>
            </a:r>
            <a:endParaRPr lang="ru-RU" dirty="0"/>
          </a:p>
        </p:txBody>
      </p:sp>
      <p:sp>
        <p:nvSpPr>
          <p:cNvPr id="5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853136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Всего таких товаров: </a:t>
            </a:r>
            <a:r>
              <a:rPr lang="ru-RU" b="1" dirty="0" smtClean="0">
                <a:solidFill>
                  <a:schemeClr val="bg1"/>
                </a:solidFill>
              </a:rPr>
              <a:t>1503</a:t>
            </a:r>
            <a:r>
              <a:rPr lang="ru-RU" dirty="0">
                <a:solidFill>
                  <a:schemeClr val="bg1"/>
                </a:solidFill>
              </a:rPr>
              <a:t> (из products_to_drop.csv). Их суммарная выручка составляет всего </a:t>
            </a:r>
            <a:r>
              <a:rPr lang="ru-RU" b="1" dirty="0" smtClean="0">
                <a:solidFill>
                  <a:schemeClr val="bg1"/>
                </a:solidFill>
              </a:rPr>
              <a:t>5%</a:t>
            </a:r>
            <a:r>
              <a:rPr lang="ru-RU" dirty="0">
                <a:solidFill>
                  <a:schemeClr val="bg1"/>
                </a:solidFill>
              </a:rPr>
              <a:t> от общей, но они занимают складские площади и требуют затрат на логистику.</a:t>
            </a:r>
          </a:p>
          <a:p>
            <a:r>
              <a:rPr lang="ru-RU" b="1" dirty="0">
                <a:solidFill>
                  <a:schemeClr val="bg1"/>
                </a:solidFill>
              </a:rPr>
              <a:t>Рекомендация:</a:t>
            </a:r>
            <a:r>
              <a:rPr lang="ru-RU" dirty="0">
                <a:solidFill>
                  <a:schemeClr val="bg1"/>
                </a:solidFill>
              </a:rPr>
              <a:t> вывести эти товары из ассортимента, освободив ресурсы для более прибыльных позиций.</a:t>
            </a:r>
          </a:p>
          <a:p>
            <a:pPr marL="137160" indent="0">
              <a:buNone/>
            </a:pP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2442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640960" cy="1498178"/>
          </a:xfrm>
        </p:spPr>
        <p:txBody>
          <a:bodyPr>
            <a:normAutofit/>
          </a:bodyPr>
          <a:lstStyle/>
          <a:p>
            <a:r>
              <a:rPr lang="ru-RU" dirty="0">
                <a:effectLst/>
              </a:rPr>
              <a:t>Рекомендации по группам </a:t>
            </a:r>
            <a:r>
              <a:rPr lang="en-US" dirty="0">
                <a:effectLst/>
              </a:rPr>
              <a:t>ABC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844824"/>
            <a:ext cx="8229600" cy="4709160"/>
          </a:xfrm>
        </p:spPr>
        <p:txBody>
          <a:bodyPr>
            <a:normAutofit fontScale="92500"/>
          </a:bodyPr>
          <a:lstStyle/>
          <a:p>
            <a:pPr marL="137160" indent="0">
              <a:buNone/>
            </a:pPr>
            <a:r>
              <a:rPr lang="ru-RU" b="1" dirty="0" smtClean="0">
                <a:solidFill>
                  <a:schemeClr val="bg1"/>
                </a:solidFill>
              </a:rPr>
              <a:t>Группа А. Рекомендации - </a:t>
            </a:r>
            <a:r>
              <a:rPr lang="ru-RU" dirty="0">
                <a:solidFill>
                  <a:schemeClr val="bg1"/>
                </a:solidFill>
              </a:rPr>
              <a:t>Поддерживать ассортимент, не снижать цены. Возможно, увеличить наценку на 5–10% (если позволяет конкуренция</a:t>
            </a:r>
            <a:r>
              <a:rPr lang="ru-RU" dirty="0" smtClean="0">
                <a:solidFill>
                  <a:schemeClr val="bg1"/>
                </a:solidFill>
              </a:rPr>
              <a:t>).</a:t>
            </a:r>
          </a:p>
          <a:p>
            <a:pPr marL="137160" indent="0">
              <a:buNone/>
            </a:pPr>
            <a:r>
              <a:rPr lang="ru-RU" b="1" dirty="0" smtClean="0">
                <a:solidFill>
                  <a:schemeClr val="bg1"/>
                </a:solidFill>
              </a:rPr>
              <a:t>Группа В. Рекомендации - </a:t>
            </a:r>
            <a:r>
              <a:rPr lang="ru-RU" dirty="0">
                <a:solidFill>
                  <a:schemeClr val="bg1"/>
                </a:solidFill>
              </a:rPr>
              <a:t>Провести акции: «2+1» или скидка 10% при покупке от 2 единиц в период высокого спроса (например, ноябрь–декабрь</a:t>
            </a:r>
            <a:r>
              <a:rPr lang="ru-RU" dirty="0" smtClean="0">
                <a:solidFill>
                  <a:schemeClr val="bg1"/>
                </a:solidFill>
              </a:rPr>
              <a:t>).</a:t>
            </a:r>
          </a:p>
          <a:p>
            <a:pPr marL="137160" indent="0">
              <a:buNone/>
            </a:pPr>
            <a:r>
              <a:rPr lang="ru-RU" b="1" dirty="0" smtClean="0">
                <a:solidFill>
                  <a:schemeClr val="bg1"/>
                </a:solidFill>
              </a:rPr>
              <a:t>Группа </a:t>
            </a:r>
            <a:r>
              <a:rPr lang="ru-RU" b="1" dirty="0" smtClean="0">
                <a:solidFill>
                  <a:schemeClr val="bg1"/>
                </a:solidFill>
              </a:rPr>
              <a:t>С. </a:t>
            </a:r>
            <a:r>
              <a:rPr lang="ru-RU" b="1" dirty="0">
                <a:solidFill>
                  <a:schemeClr val="bg1"/>
                </a:solidFill>
              </a:rPr>
              <a:t>Рекомендации - </a:t>
            </a:r>
            <a:r>
              <a:rPr lang="ru-RU" dirty="0">
                <a:solidFill>
                  <a:schemeClr val="bg1"/>
                </a:solidFill>
              </a:rPr>
              <a:t>Вывести товары с высокой скидкой (список из слайда </a:t>
            </a:r>
            <a:r>
              <a:rPr lang="ru-RU" dirty="0" smtClean="0">
                <a:solidFill>
                  <a:schemeClr val="bg1"/>
                </a:solidFill>
              </a:rPr>
              <a:t>6). </a:t>
            </a:r>
            <a:r>
              <a:rPr lang="ru-RU" dirty="0">
                <a:solidFill>
                  <a:schemeClr val="bg1"/>
                </a:solidFill>
              </a:rPr>
              <a:t>Для оставшихся товаров группы C провести распродажу с наценкой 0% (</a:t>
            </a:r>
            <a:r>
              <a:rPr lang="ru-RU" dirty="0" err="1">
                <a:solidFill>
                  <a:schemeClr val="bg1"/>
                </a:solidFill>
              </a:rPr>
              <a:t>clearance</a:t>
            </a:r>
            <a:r>
              <a:rPr lang="ru-RU" dirty="0">
                <a:solidFill>
                  <a:schemeClr val="bg1"/>
                </a:solidFill>
              </a:rPr>
              <a:t>) в течение 1 месяца, после чего вывести.</a:t>
            </a:r>
          </a:p>
        </p:txBody>
      </p:sp>
    </p:spTree>
    <p:extLst>
      <p:ext uri="{BB962C8B-B14F-4D97-AF65-F5344CB8AC3E}">
        <p14:creationId xmlns:p14="http://schemas.microsoft.com/office/powerpoint/2010/main" val="2657004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dirty="0">
                <a:effectLst/>
              </a:rPr>
              <a:t>Практические последствия и рекомендации по внедрению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" indent="0">
              <a:buNone/>
            </a:pPr>
            <a:r>
              <a:rPr lang="ru-RU" dirty="0">
                <a:solidFill>
                  <a:schemeClr val="bg1"/>
                </a:solidFill>
              </a:rPr>
              <a:t>Вывод </a:t>
            </a:r>
            <a:r>
              <a:rPr lang="ru-RU" dirty="0" smtClean="0">
                <a:solidFill>
                  <a:schemeClr val="bg1"/>
                </a:solidFill>
              </a:rPr>
              <a:t>1503 </a:t>
            </a:r>
            <a:r>
              <a:rPr lang="ru-RU" dirty="0">
                <a:solidFill>
                  <a:schemeClr val="bg1"/>
                </a:solidFill>
              </a:rPr>
              <a:t>товаров позволит: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Сократить складские запасы на </a:t>
            </a:r>
            <a:r>
              <a:rPr lang="ru-RU" b="1" dirty="0" smtClean="0">
                <a:solidFill>
                  <a:schemeClr val="bg1"/>
                </a:solidFill>
              </a:rPr>
              <a:t>~5%</a:t>
            </a:r>
            <a:r>
              <a:rPr lang="ru-RU" dirty="0" smtClean="0">
                <a:solidFill>
                  <a:schemeClr val="bg1"/>
                </a:solidFill>
              </a:rPr>
              <a:t>.</a:t>
            </a:r>
            <a:endParaRPr lang="ru-RU" dirty="0">
              <a:solidFill>
                <a:schemeClr val="bg1"/>
              </a:solidFill>
            </a:endParaRPr>
          </a:p>
          <a:p>
            <a:pPr lvl="1"/>
            <a:r>
              <a:rPr lang="ru-RU" dirty="0">
                <a:solidFill>
                  <a:schemeClr val="bg1"/>
                </a:solidFill>
              </a:rPr>
              <a:t>Снизить операционные расходы на </a:t>
            </a:r>
            <a:r>
              <a:rPr lang="ru-RU" b="1" dirty="0" smtClean="0">
                <a:solidFill>
                  <a:schemeClr val="bg1"/>
                </a:solidFill>
              </a:rPr>
              <a:t>~4%</a:t>
            </a:r>
            <a:r>
              <a:rPr lang="ru-RU" dirty="0" smtClean="0">
                <a:solidFill>
                  <a:schemeClr val="bg1"/>
                </a:solidFill>
              </a:rPr>
              <a:t>.</a:t>
            </a:r>
            <a:endParaRPr lang="ru-RU" dirty="0">
              <a:solidFill>
                <a:schemeClr val="bg1"/>
              </a:solidFill>
            </a:endParaRPr>
          </a:p>
          <a:p>
            <a:pPr lvl="1"/>
            <a:r>
              <a:rPr lang="ru-RU" dirty="0">
                <a:solidFill>
                  <a:schemeClr val="bg1"/>
                </a:solidFill>
              </a:rPr>
              <a:t>Освободить место для новых, более маржинальных товаров.</a:t>
            </a:r>
          </a:p>
          <a:p>
            <a:pPr marL="137160" indent="0">
              <a:buNone/>
            </a:pPr>
            <a:r>
              <a:rPr lang="ru-RU" dirty="0">
                <a:solidFill>
                  <a:schemeClr val="bg1"/>
                </a:solidFill>
              </a:rPr>
              <a:t>Акции на группу B могут увеличить выручку этой группы на </a:t>
            </a:r>
            <a:r>
              <a:rPr lang="ru-RU" b="1" dirty="0">
                <a:solidFill>
                  <a:schemeClr val="bg1"/>
                </a:solidFill>
              </a:rPr>
              <a:t>10–15%</a:t>
            </a:r>
            <a:r>
              <a:rPr lang="ru-RU" dirty="0">
                <a:solidFill>
                  <a:schemeClr val="bg1"/>
                </a:solidFill>
              </a:rPr>
              <a:t>.</a:t>
            </a:r>
          </a:p>
          <a:p>
            <a:pPr marL="137160" indent="0">
              <a:buNone/>
            </a:pPr>
            <a:r>
              <a:rPr lang="ru-RU" dirty="0">
                <a:solidFill>
                  <a:schemeClr val="bg1"/>
                </a:solidFill>
              </a:rPr>
              <a:t>Итоговый рост общей выручки: </a:t>
            </a:r>
            <a:r>
              <a:rPr lang="ru-RU" b="1" dirty="0">
                <a:solidFill>
                  <a:schemeClr val="bg1"/>
                </a:solidFill>
              </a:rPr>
              <a:t>~3–5%</a:t>
            </a:r>
            <a:r>
              <a:rPr lang="ru-RU" dirty="0">
                <a:solidFill>
                  <a:schemeClr val="bg1"/>
                </a:solidFill>
              </a:rPr>
              <a:t> (оценка).</a:t>
            </a:r>
          </a:p>
          <a:p>
            <a:pPr marL="13716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1198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dirty="0" smtClean="0">
                <a:effectLst/>
              </a:rPr>
              <a:t>Заключение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37160" indent="0">
              <a:buNone/>
            </a:pPr>
            <a:r>
              <a:rPr lang="ru-RU" dirty="0">
                <a:solidFill>
                  <a:schemeClr val="bg1"/>
                </a:solidFill>
              </a:rPr>
              <a:t>Ассортиментная матрица требует оптимизации: вывести низкорентабельные товары, поддержать лидеров, точечно стимулировать группу B.</a:t>
            </a:r>
          </a:p>
          <a:p>
            <a:pPr marL="137160" indent="0">
              <a:buNone/>
            </a:pPr>
            <a:endParaRPr lang="ru-RU" dirty="0" smtClean="0">
              <a:solidFill>
                <a:schemeClr val="bg1"/>
              </a:solidFill>
            </a:endParaRPr>
          </a:p>
          <a:p>
            <a:pPr marL="137160" indent="0">
              <a:buNone/>
            </a:pPr>
            <a:r>
              <a:rPr lang="ru-RU" dirty="0" smtClean="0">
                <a:solidFill>
                  <a:schemeClr val="bg1"/>
                </a:solidFill>
              </a:rPr>
              <a:t>Предложенные </a:t>
            </a:r>
            <a:r>
              <a:rPr lang="ru-RU" dirty="0">
                <a:solidFill>
                  <a:schemeClr val="bg1"/>
                </a:solidFill>
              </a:rPr>
              <a:t>меры позволят повысить эффективность ассортимента и увеличить прибыль.</a:t>
            </a:r>
          </a:p>
          <a:p>
            <a:pPr marL="13716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41000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Апекс">
  <a:themeElements>
    <a:clrScheme name="Апекс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Апекс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Апекс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187</TotalTime>
  <Words>263</Words>
  <Application>Microsoft Office PowerPoint</Application>
  <PresentationFormat>Экран (4:3)</PresentationFormat>
  <Paragraphs>56</Paragraphs>
  <Slides>12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Апекс</vt:lpstr>
      <vt:lpstr>Оптимизация ассортиментной матрицы маркетплейса</vt:lpstr>
      <vt:lpstr>ЦЕЛЬ И ДАННЫЕ</vt:lpstr>
      <vt:lpstr>АВС - АНАЛИЗ</vt:lpstr>
      <vt:lpstr>ABC – АНАЛИЗ: РАСПРЕДЕЛЕНИЕ ТОВАРОВ ПО ГРУППАМ</vt:lpstr>
      <vt:lpstr>ABC – АНАЛИЗ: РАСПРЕДЕЛЕНИЕ ТОВАРОВ ПО ГРУППАМ</vt:lpstr>
      <vt:lpstr>МАТРИЦА BCG</vt:lpstr>
      <vt:lpstr>Презентация PowerPoint</vt:lpstr>
      <vt:lpstr>ТОВАРЫ ДЛЯ ВЫВОДА</vt:lpstr>
      <vt:lpstr>ТОВАРЫ ДЛЯ ВЫВОДА</vt:lpstr>
      <vt:lpstr>Рекомендации по группам ABC</vt:lpstr>
      <vt:lpstr>Практические последствия и рекомендации по внедрению</vt:lpstr>
      <vt:lpstr>Заключение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Место психологии в системе наук о человеке</dc:title>
  <dc:creator>Linar</dc:creator>
  <cp:lastModifiedBy>Linar</cp:lastModifiedBy>
  <cp:revision>18</cp:revision>
  <dcterms:created xsi:type="dcterms:W3CDTF">2026-04-13T04:25:34Z</dcterms:created>
  <dcterms:modified xsi:type="dcterms:W3CDTF">2026-07-20T12:11:51Z</dcterms:modified>
</cp:coreProperties>
</file>