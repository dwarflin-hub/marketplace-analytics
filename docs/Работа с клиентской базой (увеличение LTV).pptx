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2" r:id="rId3"/>
    <p:sldId id="263" r:id="rId4"/>
    <p:sldId id="274" r:id="rId5"/>
    <p:sldId id="264" r:id="rId6"/>
    <p:sldId id="265" r:id="rId7"/>
    <p:sldId id="268" r:id="rId8"/>
    <p:sldId id="267" r:id="rId9"/>
    <p:sldId id="271" r:id="rId10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5" d="100"/>
          <a:sy n="65" d="100"/>
        </p:scale>
        <p:origin x="-145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BC43C-AC4D-425E-8FB4-4AFF20D46A50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CA32E-3167-4F71-A4C7-C8808E259F4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479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BCA32E-3167-4F71-A4C7-C8808E259F4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6504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22030" y="1371600"/>
            <a:ext cx="8229600" cy="1828800"/>
          </a:xfrm>
        </p:spPr>
        <p:txBody>
          <a:bodyPr vert="horz" lIns="45720" tIns="0" rIns="45720" bIns="0" anchor="b">
            <a:norm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</a:sp3d>
          </a:bodyPr>
          <a:lstStyle>
            <a:lvl1pPr>
              <a:defRPr sz="4800" b="1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28" name="Дата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17" name="Нижний колонтитул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9" name="Номер слайда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1371600" y="3331698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00200" y="609600"/>
            <a:ext cx="7086600" cy="1828800"/>
          </a:xfrm>
        </p:spPr>
        <p:txBody>
          <a:bodyPr vert="horz" bIns="0" anchor="b">
            <a:noAutofit/>
            <a:scene3d>
              <a:camera prst="orthographicFront"/>
              <a:lightRig rig="soft" dir="t">
                <a:rot lat="0" lon="0" rev="17220000"/>
              </a:lightRig>
            </a:scene3d>
            <a:sp3d prstMaterial="softEdge">
              <a:bevelT w="38100" h="38100"/>
              <a:contourClr>
                <a:schemeClr val="tx2">
                  <a:shade val="50000"/>
                </a:schemeClr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4800" b="1" cap="none" baseline="0">
                <a:ln w="6350">
                  <a:noFill/>
                </a:ln>
                <a:solidFill>
                  <a:schemeClr val="accent1">
                    <a:tint val="90000"/>
                    <a:satMod val="120000"/>
                  </a:schemeClr>
                </a:soli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600200" y="2507786"/>
            <a:ext cx="7086600" cy="1509712"/>
          </a:xfrm>
        </p:spPr>
        <p:txBody>
          <a:bodyPr anchor="t"/>
          <a:lstStyle>
            <a:lvl1pPr marL="73152" indent="0" algn="l">
              <a:buNone/>
              <a:defRPr sz="20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7924800" y="6416675"/>
            <a:ext cx="762000" cy="365125"/>
          </a:xfrm>
        </p:spPr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2"/>
            <a:ext cx="4040188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2"/>
            <a:ext cx="4041775" cy="750887"/>
          </a:xfrm>
        </p:spPr>
        <p:txBody>
          <a:bodyPr anchor="ctr"/>
          <a:lstStyle>
            <a:lvl1pPr marL="0" indent="0">
              <a:buNone/>
              <a:defRPr sz="2400" b="0" cap="all" baseline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763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vert="horz" anchor="b">
            <a:normAutofit/>
            <a:sp3d prstMaterial="softEdge"/>
          </a:bodyPr>
          <a:lstStyle>
            <a:lvl1pPr algn="l">
              <a:buNone/>
              <a:defRPr sz="2200" b="0">
                <a:ln w="6350">
                  <a:noFill/>
                </a:ln>
                <a:solidFill>
                  <a:schemeClr val="accent1">
                    <a:tint val="73000"/>
                    <a:satMod val="180000"/>
                  </a:schemeClr>
                </a:solidFill>
              </a:defRPr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57200" y="1524000"/>
            <a:ext cx="3008313" cy="4602163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2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28800" y="609600"/>
            <a:ext cx="5486400" cy="522288"/>
          </a:xfrm>
        </p:spPr>
        <p:txBody>
          <a:bodyPr lIns="45720" rIns="45720" bIns="0" anchor="b">
            <a:sp3d prstMaterial="softEdge"/>
          </a:bodyPr>
          <a:lstStyle>
            <a:lvl1pPr algn="ctr">
              <a:buNone/>
              <a:defRPr sz="2000" b="1"/>
            </a:lvl1pPr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828800" y="1831975"/>
            <a:ext cx="5486400" cy="3962400"/>
          </a:xfrm>
          <a:solidFill>
            <a:schemeClr val="bg2"/>
          </a:solidFill>
          <a:ln w="44450" cap="sq" cmpd="sng" algn="ctr">
            <a:solidFill>
              <a:srgbClr val="FFFFFF"/>
            </a:solidFill>
            <a:prstDash val="solid"/>
            <a:miter lim="800000"/>
          </a:ln>
          <a:effectLst>
            <a:outerShdw blurRad="190500" dist="228600" dir="2700000" sy="90000">
              <a:srgbClr val="000000">
                <a:alpha val="25000"/>
              </a:srgbClr>
            </a:outerShdw>
          </a:effectLst>
          <a:scene3d>
            <a:camera prst="orthographicFront">
              <a:rot lat="0" lon="0" rev="0"/>
            </a:camera>
            <a:lightRig rig="balanced" dir="tr">
              <a:rot lat="0" lon="0" rev="2700000"/>
            </a:lightRig>
          </a:scene3d>
          <a:sp3d prstMaterial="matte">
            <a:contourClr>
              <a:schemeClr val="tx2">
                <a:shade val="50000"/>
              </a:schemeClr>
            </a:contourClr>
          </a:sp3d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828800" y="1166787"/>
            <a:ext cx="5486400" cy="530352"/>
          </a:xfrm>
        </p:spPr>
        <p:txBody>
          <a:bodyPr lIns="45720" tIns="45720" rIns="45720" anchor="t"/>
          <a:lstStyle>
            <a:lvl1pPr marL="0" indent="0" algn="ct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/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0916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457200" y="6416675"/>
            <a:ext cx="2133600" cy="365125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22.07.2026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3124200" y="6416675"/>
            <a:ext cx="2895600" cy="365125"/>
          </a:xfrm>
          <a:prstGeom prst="rect">
            <a:avLst/>
          </a:prstGeom>
        </p:spPr>
        <p:txBody>
          <a:bodyPr vert="horz" anchor="b"/>
          <a:lstStyle>
            <a:lvl1pPr algn="ct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7924800" y="6416675"/>
            <a:ext cx="762000" cy="365125"/>
          </a:xfrm>
          <a:prstGeom prst="rect">
            <a:avLst/>
          </a:prstGeom>
        </p:spPr>
        <p:txBody>
          <a:bodyPr vert="horz" lIns="0" rIns="0" anchor="b"/>
          <a:lstStyle>
            <a:lvl1pPr algn="r" eaLnBrk="1" latinLnBrk="0" hangingPunct="1">
              <a:defRPr kumimoji="0" sz="1200">
                <a:solidFill>
                  <a:schemeClr val="tx1">
                    <a:shade val="50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rtl="0" eaLnBrk="1" latinLnBrk="0" hangingPunct="1">
        <a:spcBef>
          <a:spcPct val="0"/>
        </a:spcBef>
        <a:buNone/>
        <a:defRPr kumimoji="0" sz="4100" b="1" kern="1200" cap="none" baseline="0">
          <a:ln w="6350">
            <a:noFill/>
          </a:ln>
          <a:gradFill>
            <a:gsLst>
              <a:gs pos="0">
                <a:schemeClr val="accent1">
                  <a:tint val="73000"/>
                  <a:satMod val="145000"/>
                </a:schemeClr>
              </a:gs>
              <a:gs pos="73000">
                <a:schemeClr val="accent1">
                  <a:tint val="73000"/>
                  <a:satMod val="145000"/>
                </a:schemeClr>
              </a:gs>
              <a:gs pos="100000">
                <a:schemeClr val="accent1">
                  <a:tint val="83000"/>
                  <a:satMod val="143000"/>
                </a:schemeClr>
              </a:gs>
            </a:gsLst>
            <a:lin ang="4800000" scaled="1"/>
          </a:gradFill>
          <a:effectLst>
            <a:outerShdw blurRad="114300" dist="101600" dir="2700000" algn="tl" rotWithShape="0">
              <a:srgbClr val="000000">
                <a:alpha val="40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548640" indent="-411480" algn="l" rtl="0" eaLnBrk="1" latinLnBrk="0" hangingPunct="1">
        <a:spcBef>
          <a:spcPct val="20000"/>
        </a:spcBef>
        <a:buClr>
          <a:schemeClr val="tx1">
            <a:shade val="95000"/>
          </a:schemeClr>
        </a:buClr>
        <a:buSzPct val="65000"/>
        <a:buFont typeface="Wingdings 2"/>
        <a:buChar char="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868680" indent="-283464" algn="l" rtl="0" eaLnBrk="1" latinLnBrk="0" hangingPunct="1">
        <a:spcBef>
          <a:spcPct val="20000"/>
        </a:spcBef>
        <a:buClr>
          <a:schemeClr val="tx1"/>
        </a:buClr>
        <a:buSzPct val="80000"/>
        <a:buFont typeface="Wingdings 2"/>
        <a:buChar char="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33856" indent="-228600" algn="l" rtl="0" eaLnBrk="1" latinLnBrk="0" hangingPunct="1">
        <a:spcBef>
          <a:spcPct val="20000"/>
        </a:spcBef>
        <a:buClr>
          <a:schemeClr val="tx1"/>
        </a:buClr>
        <a:buSzPct val="95000"/>
        <a:buFont typeface="Wingdings"/>
        <a:buChar char=""/>
        <a:defRPr kumimoji="0"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353312" indent="-182880" algn="l" rtl="0" eaLnBrk="1" latinLnBrk="0" hangingPunct="1">
        <a:spcBef>
          <a:spcPct val="20000"/>
        </a:spcBef>
        <a:buClr>
          <a:schemeClr val="tx1"/>
        </a:buClr>
        <a:buSzPct val="100000"/>
        <a:buFont typeface="Wingdings 3"/>
        <a:buChar char="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4533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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64792" indent="-182880" algn="l" rtl="0" eaLnBrk="1" latinLnBrk="0" hangingPunct="1">
        <a:spcBef>
          <a:spcPct val="20000"/>
        </a:spcBef>
        <a:buClr>
          <a:schemeClr val="tx1"/>
        </a:buClr>
        <a:buFont typeface="Wingdings 3"/>
        <a:buChar char="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65960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167128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368296" indent="-182880" algn="l" rtl="0" eaLnBrk="1" latinLnBrk="0" hangingPunct="1">
        <a:spcBef>
          <a:spcPct val="20000"/>
        </a:spcBef>
        <a:buClr>
          <a:schemeClr val="tx1"/>
        </a:buClr>
        <a:buFont typeface="Wingdings 2"/>
        <a:buChar char="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39552" y="1412776"/>
            <a:ext cx="8229600" cy="1828800"/>
          </a:xfrm>
        </p:spPr>
        <p:txBody>
          <a:bodyPr>
            <a:normAutofit fontScale="90000"/>
            <a:scene3d>
              <a:camera prst="orthographicFront"/>
              <a:lightRig rig="soft" dir="t">
                <a:rot lat="0" lon="0" rev="17220000"/>
              </a:lightRig>
            </a:scene3d>
            <a:sp3d prstMaterial="softEdge"/>
          </a:bodyPr>
          <a:lstStyle/>
          <a:p>
            <a:r>
              <a:rPr lang="ru-RU" b="0" dirty="0" smtClean="0">
                <a:effectLst/>
              </a:rPr>
              <a:t>ПОВЫШЕНИЕ </a:t>
            </a:r>
            <a:r>
              <a:rPr lang="en-US" b="0" dirty="0" smtClean="0">
                <a:effectLst/>
              </a:rPr>
              <a:t>LTV</a:t>
            </a:r>
            <a:r>
              <a:rPr lang="ru-RU" b="0" dirty="0" smtClean="0">
                <a:effectLst/>
              </a:rPr>
              <a:t> КЛИЕНТОВ МАРКЕТПЛЕЙСА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31640" y="5229200"/>
            <a:ext cx="6400800" cy="719194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Выполнил: Шабалин Линар</a:t>
            </a:r>
            <a:endParaRPr lang="en-US" dirty="0" smtClean="0">
              <a:solidFill>
                <a:schemeClr val="bg1"/>
              </a:solidFill>
            </a:endParaRPr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323528" y="3861048"/>
            <a:ext cx="8229600" cy="604664"/>
          </a:xfrm>
          <a:prstGeom prst="rect">
            <a:avLst/>
          </a:prstGeom>
        </p:spPr>
        <p:txBody>
          <a:bodyPr vert="horz" lIns="45720" tIns="0" rIns="45720" bIns="0" anchor="b">
            <a:normAutofit fontScale="97500"/>
            <a:scene3d>
              <a:camera prst="orthographicFront"/>
              <a:lightRig rig="soft" dir="t">
                <a:rot lat="0" lon="0" rev="17220000"/>
              </a:lightRig>
            </a:scene3d>
            <a:sp3d prstMaterial="softEdge"/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800" b="1" kern="1200" cap="all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27000" dist="200000" dir="2700000" algn="tl" rotWithShape="0">
                    <a:srgbClr val="000000">
                      <a:alpha val="3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b="0" dirty="0" smtClean="0">
                <a:effectLst/>
              </a:rPr>
              <a:t>Анализ КЛИЕНТСКОЙ БАЗЫ за 2023 год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2333998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ЦЕЛЬ И ДАННЫЕ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Цель:</a:t>
            </a:r>
            <a:r>
              <a:rPr lang="ru-RU" dirty="0">
                <a:solidFill>
                  <a:schemeClr val="bg1"/>
                </a:solidFill>
              </a:rPr>
              <a:t> выявить сегменты клиентов и предложить меры для увеличения их пожизненной ценности (LTV</a:t>
            </a:r>
            <a:r>
              <a:rPr lang="ru-RU" dirty="0" smtClean="0">
                <a:solidFill>
                  <a:schemeClr val="bg1"/>
                </a:solidFill>
              </a:rPr>
              <a:t>).</a:t>
            </a:r>
          </a:p>
          <a:p>
            <a:r>
              <a:rPr lang="ru-RU" b="1" dirty="0" smtClean="0">
                <a:solidFill>
                  <a:schemeClr val="bg1"/>
                </a:solidFill>
              </a:rPr>
              <a:t>Данные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r>
              <a:rPr lang="ru-RU" dirty="0">
                <a:solidFill>
                  <a:schemeClr val="bg1"/>
                </a:solidFill>
              </a:rPr>
              <a:t> транзакции клиентов за 2023 год (всего </a:t>
            </a:r>
            <a:r>
              <a:rPr lang="ru-RU" dirty="0" smtClean="0">
                <a:solidFill>
                  <a:schemeClr val="bg1"/>
                </a:solidFill>
              </a:rPr>
              <a:t>8953 </a:t>
            </a:r>
            <a:r>
              <a:rPr lang="ru-RU" dirty="0">
                <a:solidFill>
                  <a:schemeClr val="bg1"/>
                </a:solidFill>
              </a:rPr>
              <a:t>уникальных клиентов</a:t>
            </a:r>
            <a:r>
              <a:rPr lang="ru-RU" dirty="0" smtClean="0">
                <a:solidFill>
                  <a:schemeClr val="bg1"/>
                </a:solidFill>
              </a:rPr>
              <a:t>)</a:t>
            </a:r>
          </a:p>
          <a:p>
            <a:r>
              <a:rPr lang="ru-RU" b="1" dirty="0" smtClean="0">
                <a:solidFill>
                  <a:schemeClr val="bg1"/>
                </a:solidFill>
              </a:rPr>
              <a:t>Методы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r>
              <a:rPr lang="ru-RU" dirty="0">
                <a:solidFill>
                  <a:schemeClr val="bg1"/>
                </a:solidFill>
              </a:rPr>
              <a:t> </a:t>
            </a:r>
            <a:r>
              <a:rPr lang="en-US" dirty="0">
                <a:solidFill>
                  <a:schemeClr val="bg1"/>
                </a:solidFill>
              </a:rPr>
              <a:t>RFM-</a:t>
            </a:r>
            <a:r>
              <a:rPr lang="en-US" dirty="0" err="1">
                <a:solidFill>
                  <a:schemeClr val="bg1"/>
                </a:solidFill>
              </a:rPr>
              <a:t>сегментация</a:t>
            </a:r>
            <a:r>
              <a:rPr lang="en-US" dirty="0">
                <a:solidFill>
                  <a:schemeClr val="bg1"/>
                </a:solidFill>
              </a:rPr>
              <a:t> (</a:t>
            </a:r>
            <a:r>
              <a:rPr lang="en-US" dirty="0" err="1">
                <a:solidFill>
                  <a:schemeClr val="bg1"/>
                </a:solidFill>
              </a:rPr>
              <a:t>Recency</a:t>
            </a:r>
            <a:r>
              <a:rPr lang="en-US" dirty="0">
                <a:solidFill>
                  <a:schemeClr val="bg1"/>
                </a:solidFill>
              </a:rPr>
              <a:t>, Frequency, Monetary), </a:t>
            </a:r>
            <a:r>
              <a:rPr lang="en-US" dirty="0" err="1">
                <a:solidFill>
                  <a:schemeClr val="bg1"/>
                </a:solidFill>
              </a:rPr>
              <a:t>когортный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анализ</a:t>
            </a:r>
            <a:r>
              <a:rPr lang="en-US" dirty="0">
                <a:solidFill>
                  <a:schemeClr val="bg1"/>
                </a:solidFill>
              </a:rPr>
              <a:t> LTV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ru-RU" dirty="0">
              <a:solidFill>
                <a:schemeClr val="bg1"/>
              </a:solidFill>
            </a:endParaRPr>
          </a:p>
          <a:p>
            <a:pPr marL="13716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643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 smtClean="0">
                <a:effectLst/>
              </a:rPr>
              <a:t>RFM</a:t>
            </a:r>
            <a:r>
              <a:rPr lang="ru-RU" b="0" dirty="0" smtClean="0">
                <a:effectLst/>
              </a:rPr>
              <a:t> - СЕГМЕНТАЦИЯ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5492362"/>
              </p:ext>
            </p:extLst>
          </p:nvPr>
        </p:nvGraphicFramePr>
        <p:xfrm>
          <a:off x="457200" y="1600200"/>
          <a:ext cx="8229600" cy="1876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segment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count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Others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134300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Loyal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24732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Champions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24581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  <a:tr h="370840"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At Risk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4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12463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5576" y="4005064"/>
            <a:ext cx="770485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b="1" dirty="0">
                <a:solidFill>
                  <a:schemeClr val="bg1"/>
                </a:solidFill>
              </a:rPr>
              <a:t>Описание сегментов:</a:t>
            </a:r>
            <a:endParaRPr lang="ru-RU" sz="2400" dirty="0">
              <a:solidFill>
                <a:schemeClr val="bg1"/>
              </a:solidFill>
            </a:endParaRP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Champions</a:t>
            </a:r>
            <a:r>
              <a:rPr lang="ru-RU" sz="2400" dirty="0">
                <a:solidFill>
                  <a:schemeClr val="bg1"/>
                </a:solidFill>
              </a:rPr>
              <a:t> – недавние, частые, много тратят.</a:t>
            </a: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Loyal</a:t>
            </a:r>
            <a:r>
              <a:rPr lang="ru-RU" sz="2400" dirty="0">
                <a:solidFill>
                  <a:schemeClr val="bg1"/>
                </a:solidFill>
              </a:rPr>
              <a:t> – лояльные, но не лидеры.</a:t>
            </a:r>
          </a:p>
          <a:p>
            <a:pPr algn="just"/>
            <a:r>
              <a:rPr lang="ru-RU" sz="2400" b="1" dirty="0" smtClean="0">
                <a:solidFill>
                  <a:schemeClr val="bg1"/>
                </a:solidFill>
              </a:rPr>
              <a:t>At </a:t>
            </a:r>
            <a:r>
              <a:rPr lang="ru-RU" sz="2400" b="1" dirty="0">
                <a:solidFill>
                  <a:schemeClr val="bg1"/>
                </a:solidFill>
              </a:rPr>
              <a:t>Risk</a:t>
            </a:r>
            <a:r>
              <a:rPr lang="ru-RU" sz="2400" dirty="0">
                <a:solidFill>
                  <a:schemeClr val="bg1"/>
                </a:solidFill>
              </a:rPr>
              <a:t> – давно не покупали, но раньше тратили.</a:t>
            </a:r>
          </a:p>
          <a:p>
            <a:pPr algn="just"/>
            <a:r>
              <a:rPr lang="ru-RU" sz="2400" b="1" dirty="0" err="1">
                <a:solidFill>
                  <a:schemeClr val="bg1"/>
                </a:solidFill>
              </a:rPr>
              <a:t>Others</a:t>
            </a:r>
            <a:r>
              <a:rPr lang="ru-RU" sz="2400" dirty="0">
                <a:solidFill>
                  <a:schemeClr val="bg1"/>
                </a:solidFill>
              </a:rPr>
              <a:t> – остальные.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72139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РЕКОМЕНДАЦИИ ПО СЕГМЕНТАМ</a:t>
            </a:r>
            <a:endParaRPr lang="ru-RU" dirty="0"/>
          </a:p>
        </p:txBody>
      </p:sp>
      <p:sp>
        <p:nvSpPr>
          <p:cNvPr id="6" name="Объект 2"/>
          <p:cNvSpPr txBox="1">
            <a:spLocks/>
          </p:cNvSpPr>
          <p:nvPr/>
        </p:nvSpPr>
        <p:spPr>
          <a:xfrm>
            <a:off x="467544" y="1844824"/>
            <a:ext cx="8229600" cy="4709160"/>
          </a:xfrm>
          <a:prstGeom prst="rect">
            <a:avLst/>
          </a:prstGeom>
        </p:spPr>
        <p:txBody>
          <a:bodyPr vert="horz">
            <a:normAutofit fontScale="92500"/>
          </a:bodyPr>
          <a:lstStyle>
            <a:lvl1pPr marL="548640" indent="-411480" algn="l" rtl="0" eaLnBrk="1" latinLnBrk="0" hangingPunct="1">
              <a:spcBef>
                <a:spcPct val="20000"/>
              </a:spcBef>
              <a:buClr>
                <a:schemeClr val="tx1">
                  <a:shade val="95000"/>
                </a:schemeClr>
              </a:buClr>
              <a:buSzPct val="65000"/>
              <a:buFont typeface="Wingdings 2"/>
              <a:buChar char=""/>
              <a:defRPr kumimoji="0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68680" indent="-283464" algn="l" rtl="0" eaLnBrk="1" latinLnBrk="0" hangingPunct="1">
              <a:spcBef>
                <a:spcPct val="20000"/>
              </a:spcBef>
              <a:buClr>
                <a:schemeClr val="tx1"/>
              </a:buClr>
              <a:buSzPct val="80000"/>
              <a:buFont typeface="Wingdings 2"/>
              <a:buChar char=""/>
              <a:defRPr kumimoji="0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33856" indent="-228600" algn="l" rtl="0" eaLnBrk="1" latinLnBrk="0" hangingPunct="1">
              <a:spcBef>
                <a:spcPct val="20000"/>
              </a:spcBef>
              <a:buClr>
                <a:schemeClr val="tx1"/>
              </a:buClr>
              <a:buSzPct val="95000"/>
              <a:buFont typeface="Wingdings"/>
              <a:buChar char=""/>
              <a:defRPr kumimoji="0"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53312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SzPct val="100000"/>
              <a:buFont typeface="Wingdings 3"/>
              <a:buChar char="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5336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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64792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3"/>
              <a:buChar char="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65960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67128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368296" indent="-182880" algn="l" rtl="0" eaLnBrk="1" latinLnBrk="0" hangingPunct="1">
              <a:spcBef>
                <a:spcPct val="20000"/>
              </a:spcBef>
              <a:buClr>
                <a:schemeClr val="tx1"/>
              </a:buClr>
              <a:buFont typeface="Wingdings 2"/>
              <a:buChar char=""/>
              <a:defRPr kumimoji="0"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Champions</a:t>
            </a:r>
            <a:r>
              <a:rPr lang="ru-RU" b="1" dirty="0" smtClean="0">
                <a:solidFill>
                  <a:schemeClr val="bg1"/>
                </a:solidFill>
              </a:rPr>
              <a:t>. Рекомендации - </a:t>
            </a:r>
            <a:r>
              <a:rPr lang="ru-RU" dirty="0">
                <a:solidFill>
                  <a:schemeClr val="bg1"/>
                </a:solidFill>
              </a:rPr>
              <a:t>Реферальная программа: давать бонус за приведённого друга. Эксклюзивные скидки на новые коллекции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Loyal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>
                <a:solidFill>
                  <a:schemeClr val="bg1"/>
                </a:solidFill>
              </a:rPr>
              <a:t>Программа лояльности (накопительные баллы). Кросс-продажи: предлагать сопутствующие товары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At Risk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 err="1">
                <a:solidFill>
                  <a:schemeClr val="bg1"/>
                </a:solidFill>
              </a:rPr>
              <a:t>Reactivation</a:t>
            </a:r>
            <a:r>
              <a:rPr lang="ru-RU" dirty="0">
                <a:solidFill>
                  <a:schemeClr val="bg1"/>
                </a:solidFill>
              </a:rPr>
              <a:t>-кампания: </a:t>
            </a:r>
            <a:r>
              <a:rPr lang="ru-RU" dirty="0" err="1">
                <a:solidFill>
                  <a:schemeClr val="bg1"/>
                </a:solidFill>
              </a:rPr>
              <a:t>email</a:t>
            </a:r>
            <a:r>
              <a:rPr lang="ru-RU" dirty="0">
                <a:solidFill>
                  <a:schemeClr val="bg1"/>
                </a:solidFill>
              </a:rPr>
              <a:t> с персональным предложением (15% скидка) и напоминание о забытых товарах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en-US" dirty="0" smtClean="0">
              <a:solidFill>
                <a:schemeClr val="bg1"/>
              </a:solidFill>
            </a:endParaRP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Группа </a:t>
            </a:r>
            <a:r>
              <a:rPr lang="en-US" b="1" dirty="0" smtClean="0">
                <a:solidFill>
                  <a:schemeClr val="bg1"/>
                </a:solidFill>
              </a:rPr>
              <a:t>Others</a:t>
            </a:r>
            <a:r>
              <a:rPr lang="ru-RU" b="1" dirty="0" smtClean="0">
                <a:solidFill>
                  <a:schemeClr val="bg1"/>
                </a:solidFill>
              </a:rPr>
              <a:t>. </a:t>
            </a:r>
            <a:r>
              <a:rPr lang="ru-RU" b="1" dirty="0">
                <a:solidFill>
                  <a:schemeClr val="bg1"/>
                </a:solidFill>
              </a:rPr>
              <a:t>Рекомендации - </a:t>
            </a:r>
            <a:r>
              <a:rPr lang="ru-RU" dirty="0">
                <a:solidFill>
                  <a:schemeClr val="bg1"/>
                </a:solidFill>
              </a:rPr>
              <a:t>Стандартные коммуникации, поддерживать через общие рассылки.</a:t>
            </a:r>
            <a:endParaRPr lang="en-US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5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435280" cy="1498178"/>
          </a:xfrm>
        </p:spPr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КОГОРТНЫЙ АНАЛИЗ </a:t>
            </a:r>
            <a:r>
              <a:rPr lang="en-US" b="0" dirty="0" smtClean="0">
                <a:effectLst/>
              </a:rPr>
              <a:t>LTV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816" y="1556792"/>
            <a:ext cx="3456384" cy="4708525"/>
          </a:xfrm>
        </p:spPr>
      </p:pic>
    </p:spTree>
    <p:extLst>
      <p:ext uri="{BB962C8B-B14F-4D97-AF65-F5344CB8AC3E}">
        <p14:creationId xmlns:p14="http://schemas.microsoft.com/office/powerpoint/2010/main" val="2902892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Интерпретация квадрантов: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Когорта </a:t>
            </a:r>
            <a:r>
              <a:rPr lang="ru-RU" dirty="0" smtClean="0">
                <a:solidFill>
                  <a:schemeClr val="bg1"/>
                </a:solidFill>
              </a:rPr>
              <a:t>январь - 2023 </a:t>
            </a:r>
            <a:r>
              <a:rPr lang="ru-RU" dirty="0">
                <a:solidFill>
                  <a:schemeClr val="bg1"/>
                </a:solidFill>
              </a:rPr>
              <a:t>имеет LTV на </a:t>
            </a:r>
            <a:r>
              <a:rPr lang="ru-RU" b="1" dirty="0">
                <a:solidFill>
                  <a:schemeClr val="bg1"/>
                </a:solidFill>
              </a:rPr>
              <a:t>30% выше</a:t>
            </a:r>
            <a:r>
              <a:rPr lang="ru-RU" dirty="0">
                <a:solidFill>
                  <a:schemeClr val="bg1"/>
                </a:solidFill>
              </a:rPr>
              <a:t>, чем когорта </a:t>
            </a:r>
            <a:r>
              <a:rPr lang="ru-RU" dirty="0" smtClean="0">
                <a:solidFill>
                  <a:schemeClr val="bg1"/>
                </a:solidFill>
              </a:rPr>
              <a:t>июль - 2023.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Более ранние когорты демонстрируют стабильно высокий LTV, что говорит о хорошем удержании.</a:t>
            </a:r>
          </a:p>
          <a:p>
            <a:r>
              <a:rPr lang="ru-RU" dirty="0">
                <a:solidFill>
                  <a:schemeClr val="bg1"/>
                </a:solidFill>
              </a:rPr>
              <a:t>У новых когорт (вторая половина года) LTV падает – вероятно, проблема в онбординге.</a:t>
            </a:r>
          </a:p>
          <a:p>
            <a:pPr marL="137160" indent="0">
              <a:buNone/>
            </a:pPr>
            <a:r>
              <a:rPr lang="ru-RU" b="1" dirty="0" smtClean="0">
                <a:solidFill>
                  <a:schemeClr val="bg1"/>
                </a:solidFill>
              </a:rPr>
              <a:t>Вывод</a:t>
            </a:r>
            <a:r>
              <a:rPr lang="ru-RU" b="1" dirty="0">
                <a:solidFill>
                  <a:schemeClr val="bg1"/>
                </a:solidFill>
              </a:rPr>
              <a:t>: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Клиенты, пришедшие в начале года, более ценны. Это может быть связано с сезонностью или качеством трафика.</a:t>
            </a:r>
          </a:p>
          <a:p>
            <a:r>
              <a:rPr lang="ru-RU" dirty="0">
                <a:solidFill>
                  <a:schemeClr val="bg1"/>
                </a:solidFill>
              </a:rPr>
              <a:t>Нужно улучшить процесс знакомства новых клиентов с платформой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395536" y="53412"/>
            <a:ext cx="8435280" cy="1498178"/>
          </a:xfrm>
          <a:prstGeom prst="rect">
            <a:avLst/>
          </a:prstGeom>
        </p:spPr>
        <p:txBody>
          <a:bodyPr vert="horz" anchor="ctr">
            <a:normAutofit fontScale="97500"/>
            <a:scene3d>
              <a:camera prst="orthographicFront"/>
              <a:lightRig rig="soft" dir="t">
                <a:rot lat="0" lon="0" rev="16800000"/>
              </a:lightRig>
            </a:scene3d>
            <a:sp3d prstMaterial="softEdge">
              <a:bevelT w="38100" h="38100"/>
            </a:sp3d>
          </a:bodyPr>
          <a:lstStyle>
            <a:lvl1pPr algn="ctr" rtl="0" eaLnBrk="1" latinLnBrk="0" hangingPunct="1">
              <a:spcBef>
                <a:spcPct val="0"/>
              </a:spcBef>
              <a:buNone/>
              <a:defRPr kumimoji="0" sz="4100" b="1" kern="1200" cap="none" baseline="0">
                <a:ln w="6350">
                  <a:noFill/>
                </a:ln>
                <a:gradFill>
                  <a:gsLst>
                    <a:gs pos="0">
                      <a:schemeClr val="accent1">
                        <a:tint val="73000"/>
                        <a:satMod val="145000"/>
                      </a:schemeClr>
                    </a:gs>
                    <a:gs pos="73000">
                      <a:schemeClr val="accent1">
                        <a:tint val="73000"/>
                        <a:satMod val="145000"/>
                      </a:schemeClr>
                    </a:gs>
                    <a:gs pos="100000">
                      <a:schemeClr val="accent1">
                        <a:tint val="83000"/>
                        <a:satMod val="143000"/>
                      </a:schemeClr>
                    </a:gs>
                  </a:gsLst>
                  <a:lin ang="4800000" scaled="1"/>
                </a:gradFill>
                <a:effectLst>
                  <a:outerShdw blurRad="114300" dist="101600" dir="2700000" algn="tl" rotWithShape="0">
                    <a:srgbClr val="000000">
                      <a:alpha val="40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lang="ru-RU" b="0" dirty="0">
                <a:effectLst/>
              </a:rPr>
              <a:t>КОГОРТНЫЙ АНАЛИЗ </a:t>
            </a:r>
            <a:r>
              <a:rPr lang="en-US" b="0" dirty="0">
                <a:effectLst/>
              </a:rPr>
              <a:t>LTV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6660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570186"/>
          </a:xfrm>
        </p:spPr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ПРЕДЛОЖЕНИЯ ПО УВЕЛИЧЕНИЮ </a:t>
            </a:r>
            <a:r>
              <a:rPr lang="en-US" b="0" dirty="0" smtClean="0">
                <a:effectLst/>
              </a:rPr>
              <a:t>LTV</a:t>
            </a:r>
            <a:endParaRPr lang="ru-RU" dirty="0"/>
          </a:p>
        </p:txBody>
      </p:sp>
      <p:sp>
        <p:nvSpPr>
          <p:cNvPr id="5" name="Объект 2"/>
          <p:cNvSpPr>
            <a:spLocks noGrp="1"/>
          </p:cNvSpPr>
          <p:nvPr>
            <p:ph idx="1"/>
          </p:nvPr>
        </p:nvSpPr>
        <p:spPr>
          <a:xfrm>
            <a:off x="457200" y="1844824"/>
            <a:ext cx="8435280" cy="4608512"/>
          </a:xfrm>
        </p:spPr>
        <p:txBody>
          <a:bodyPr>
            <a:normAutofit fontScale="92500" lnSpcReduction="20000"/>
          </a:bodyPr>
          <a:lstStyle/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всех новых клиентов</a:t>
            </a:r>
            <a:r>
              <a:rPr lang="ru-RU" dirty="0">
                <a:solidFill>
                  <a:schemeClr val="bg1"/>
                </a:solidFill>
              </a:rPr>
              <a:t> внедрить приветственную серию из 3 писем: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1: благодарность и ссылка на руководство пользователя.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2 (через 3 дня): рекомендации товаров на основе просмотров.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Письмо 3 (через 7 дней): предложение скидки на второй заказ.</a:t>
            </a: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Для сегмента «At Risk»</a:t>
            </a:r>
            <a:r>
              <a:rPr lang="ru-RU" dirty="0">
                <a:solidFill>
                  <a:schemeClr val="bg1"/>
                </a:solidFill>
              </a:rPr>
              <a:t> запустить автоматическую кампанию: если клиент не покупал 30 дней, отправлять </a:t>
            </a:r>
            <a:r>
              <a:rPr lang="ru-RU" dirty="0" smtClean="0">
                <a:solidFill>
                  <a:schemeClr val="bg1"/>
                </a:solidFill>
              </a:rPr>
              <a:t>push - уведомление </a:t>
            </a:r>
            <a:r>
              <a:rPr lang="ru-RU" dirty="0">
                <a:solidFill>
                  <a:schemeClr val="bg1"/>
                </a:solidFill>
              </a:rPr>
              <a:t>с персональной скидкой.</a:t>
            </a:r>
          </a:p>
          <a:p>
            <a:pPr marL="137160" indent="0">
              <a:buNone/>
            </a:pPr>
            <a:r>
              <a:rPr lang="ru-RU" b="1" dirty="0">
                <a:solidFill>
                  <a:schemeClr val="bg1"/>
                </a:solidFill>
              </a:rPr>
              <a:t>Ввести программу лояльности</a:t>
            </a:r>
            <a:r>
              <a:rPr lang="ru-RU" dirty="0">
                <a:solidFill>
                  <a:schemeClr val="bg1"/>
                </a:solidFill>
              </a:rPr>
              <a:t> с накоплением баллов (1 балл = 1 рубль скидки) для всех клиентов, совершивших более 3 покупок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82442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1520" y="274638"/>
            <a:ext cx="8640960" cy="1498178"/>
          </a:xfrm>
        </p:spPr>
        <p:txBody>
          <a:bodyPr>
            <a:normAutofit/>
          </a:bodyPr>
          <a:lstStyle/>
          <a:p>
            <a:r>
              <a:rPr lang="ru-RU" dirty="0" smtClean="0">
                <a:effectLst/>
              </a:rPr>
              <a:t>ОЖИДАЕМЫЙ ЭФФЕКТ</a:t>
            </a:r>
            <a:endParaRPr lang="en-US" dirty="0">
              <a:effectLst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844824"/>
            <a:ext cx="8229600" cy="470916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Увеличение частоты покупок у новых клиентов на </a:t>
            </a:r>
            <a:r>
              <a:rPr lang="ru-RU" b="1" dirty="0">
                <a:solidFill>
                  <a:schemeClr val="bg1"/>
                </a:solidFill>
              </a:rPr>
              <a:t>15–20%</a:t>
            </a:r>
            <a:r>
              <a:rPr lang="ru-RU" dirty="0">
                <a:solidFill>
                  <a:schemeClr val="bg1"/>
                </a:solidFill>
              </a:rPr>
              <a:t> (за счёт приветственных предложений).</a:t>
            </a:r>
          </a:p>
          <a:p>
            <a:r>
              <a:rPr lang="ru-RU" dirty="0">
                <a:solidFill>
                  <a:schemeClr val="bg1"/>
                </a:solidFill>
              </a:rPr>
              <a:t>Возврат </a:t>
            </a:r>
            <a:r>
              <a:rPr lang="ru-RU" b="1" dirty="0">
                <a:solidFill>
                  <a:schemeClr val="bg1"/>
                </a:solidFill>
              </a:rPr>
              <a:t>30%</a:t>
            </a:r>
            <a:r>
              <a:rPr lang="ru-RU" dirty="0">
                <a:solidFill>
                  <a:schemeClr val="bg1"/>
                </a:solidFill>
              </a:rPr>
              <a:t> клиентов из сегмента «At Risk».</a:t>
            </a:r>
          </a:p>
          <a:p>
            <a:r>
              <a:rPr lang="ru-RU" dirty="0">
                <a:solidFill>
                  <a:schemeClr val="bg1"/>
                </a:solidFill>
              </a:rPr>
              <a:t>Рост среднего LTV для всех когорт на </a:t>
            </a:r>
            <a:r>
              <a:rPr lang="ru-RU" b="1" dirty="0">
                <a:solidFill>
                  <a:schemeClr val="bg1"/>
                </a:solidFill>
              </a:rPr>
              <a:t>10–15%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r>
              <a:rPr lang="ru-RU" dirty="0">
                <a:solidFill>
                  <a:schemeClr val="bg1"/>
                </a:solidFill>
              </a:rPr>
              <a:t>Общий рост выручки за счёт клиентской базы: </a:t>
            </a:r>
            <a:r>
              <a:rPr lang="ru-RU" b="1" dirty="0">
                <a:solidFill>
                  <a:schemeClr val="bg1"/>
                </a:solidFill>
              </a:rPr>
              <a:t>~5–8%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5700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0" dirty="0" smtClean="0">
                <a:effectLst/>
              </a:rPr>
              <a:t>Заключение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95536" y="1556792"/>
            <a:ext cx="8229600" cy="470916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Клиентская база неоднородна, нужно работать с каждым сегментом </a:t>
            </a:r>
            <a:r>
              <a:rPr lang="ru-RU" dirty="0" err="1">
                <a:solidFill>
                  <a:schemeClr val="bg1"/>
                </a:solidFill>
              </a:rPr>
              <a:t>персонализированно</a:t>
            </a:r>
            <a:r>
              <a:rPr lang="ru-RU" dirty="0">
                <a:solidFill>
                  <a:schemeClr val="bg1"/>
                </a:solidFill>
              </a:rPr>
              <a:t>.</a:t>
            </a:r>
          </a:p>
          <a:p>
            <a:r>
              <a:rPr lang="ru-RU" dirty="0">
                <a:solidFill>
                  <a:schemeClr val="bg1"/>
                </a:solidFill>
              </a:rPr>
              <a:t>Внедрение программ лояльности и </a:t>
            </a:r>
            <a:r>
              <a:rPr lang="ru-RU" dirty="0" err="1">
                <a:solidFill>
                  <a:schemeClr val="bg1"/>
                </a:solidFill>
              </a:rPr>
              <a:t>реактивационных</a:t>
            </a:r>
            <a:r>
              <a:rPr lang="ru-RU" dirty="0">
                <a:solidFill>
                  <a:schemeClr val="bg1"/>
                </a:solidFill>
              </a:rPr>
              <a:t> кампаний повысит LTV и общую лояльность.</a:t>
            </a:r>
          </a:p>
          <a:p>
            <a:r>
              <a:rPr lang="ru-RU" dirty="0">
                <a:solidFill>
                  <a:schemeClr val="bg1"/>
                </a:solidFill>
              </a:rPr>
              <a:t>Рекомендуется также проанализировать каналы привлечения (если будут данные) для улучшения качества новых клиентов.</a:t>
            </a:r>
          </a:p>
          <a:p>
            <a:pPr marL="13716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410005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Апекс">
  <a:themeElements>
    <a:clrScheme name="Апекс">
      <a:dk1>
        <a:sysClr val="windowText" lastClr="000000"/>
      </a:dk1>
      <a:lt1>
        <a:sysClr val="window" lastClr="FFFFFF"/>
      </a:lt1>
      <a:dk2>
        <a:srgbClr val="69676D"/>
      </a:dk2>
      <a:lt2>
        <a:srgbClr val="C9C2D1"/>
      </a:lt2>
      <a:accent1>
        <a:srgbClr val="CEB966"/>
      </a:accent1>
      <a:accent2>
        <a:srgbClr val="9CB084"/>
      </a:accent2>
      <a:accent3>
        <a:srgbClr val="6BB1C9"/>
      </a:accent3>
      <a:accent4>
        <a:srgbClr val="6585CF"/>
      </a:accent4>
      <a:accent5>
        <a:srgbClr val="7E6BC9"/>
      </a:accent5>
      <a:accent6>
        <a:srgbClr val="A379BB"/>
      </a:accent6>
      <a:hlink>
        <a:srgbClr val="410082"/>
      </a:hlink>
      <a:folHlink>
        <a:srgbClr val="932968"/>
      </a:folHlink>
    </a:clrScheme>
    <a:fontScheme name="Апекс">
      <a:majorFont>
        <a:latin typeface="Lucida Sans"/>
        <a:ea typeface=""/>
        <a:cs typeface=""/>
        <a:font script="Grek" typeface="Arial"/>
        <a:font script="Cyrl" typeface="Arial"/>
        <a:font script="Jpan" typeface="HG丸ｺﾞｼｯｸM-PRO"/>
        <a:font script="Hang" typeface="휴먼옛체"/>
        <a:font script="Hans" typeface="黑体"/>
        <a:font script="Hant" typeface="微軟正黑體"/>
        <a:font script="Arab" typeface="Tahoma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明朝B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Апекс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180000"/>
              </a:schemeClr>
            </a:gs>
            <a:gs pos="100000">
              <a:schemeClr val="phClr">
                <a:shade val="45000"/>
                <a:satMod val="120000"/>
              </a:schemeClr>
            </a:gs>
          </a:gsLst>
          <a:path path="circle">
            <a:fillToRect r="1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"/>
                <a:satMod val="110000"/>
              </a:schemeClr>
              <a:schemeClr val="phClr">
                <a:tint val="60000"/>
                <a:satMod val="425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210</TotalTime>
  <Words>187</Words>
  <Application>Microsoft Office PowerPoint</Application>
  <PresentationFormat>Экран (4:3)</PresentationFormat>
  <Paragraphs>54</Paragraphs>
  <Slides>9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0" baseType="lpstr">
      <vt:lpstr>Апекс</vt:lpstr>
      <vt:lpstr>ПОВЫШЕНИЕ LTV КЛИЕНТОВ МАРКЕТПЛЕЙСА</vt:lpstr>
      <vt:lpstr>ЦЕЛЬ И ДАННЫЕ</vt:lpstr>
      <vt:lpstr>RFM - СЕГМЕНТАЦИЯ</vt:lpstr>
      <vt:lpstr>РЕКОМЕНДАЦИИ ПО СЕГМЕНТАМ</vt:lpstr>
      <vt:lpstr>КОГОРТНЫЙ АНАЛИЗ LTV</vt:lpstr>
      <vt:lpstr>Презентация PowerPoint</vt:lpstr>
      <vt:lpstr>ПРЕДЛОЖЕНИЯ ПО УВЕЛИЧЕНИЮ LTV</vt:lpstr>
      <vt:lpstr>ОЖИДАЕМЫЙ ЭФФЕКТ</vt:lpstr>
      <vt:lpstr>Заключение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Место психологии в системе наук о человеке</dc:title>
  <dc:creator>Linar</dc:creator>
  <cp:lastModifiedBy>Linar</cp:lastModifiedBy>
  <cp:revision>21</cp:revision>
  <dcterms:created xsi:type="dcterms:W3CDTF">2026-04-13T04:25:34Z</dcterms:created>
  <dcterms:modified xsi:type="dcterms:W3CDTF">2026-07-22T16:00:34Z</dcterms:modified>
</cp:coreProperties>
</file>