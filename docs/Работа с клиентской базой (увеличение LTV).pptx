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2" r:id="rId3"/>
    <p:sldId id="263" r:id="rId4"/>
    <p:sldId id="274" r:id="rId5"/>
    <p:sldId id="264" r:id="rId6"/>
    <p:sldId id="265" r:id="rId7"/>
    <p:sldId id="268" r:id="rId8"/>
    <p:sldId id="267" r:id="rId9"/>
    <p:sldId id="271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BC43C-AC4D-425E-8FB4-4AFF20D46A50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CA32E-3167-4F71-A4C7-C8808E259F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47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BCA32E-3167-4F71-A4C7-C8808E259F4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5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8229600" cy="1828800"/>
          </a:xfrm>
        </p:spPr>
        <p:txBody>
          <a:bodyPr>
            <a:normAutofit fontScale="90000"/>
            <a:scene3d>
              <a:camera prst="orthographicFront"/>
              <a:lightRig rig="soft" dir="t">
                <a:rot lat="0" lon="0" rev="17220000"/>
              </a:lightRig>
            </a:scene3d>
            <a:sp3d prstMaterial="softEdge"/>
          </a:bodyPr>
          <a:lstStyle/>
          <a:p>
            <a:r>
              <a:rPr lang="ru-RU" b="0" dirty="0" smtClean="0">
                <a:effectLst/>
              </a:rPr>
              <a:t>ПОВЫШЕНИЕ </a:t>
            </a:r>
            <a:r>
              <a:rPr lang="en-US" b="0" dirty="0" smtClean="0">
                <a:effectLst/>
              </a:rPr>
              <a:t>LTV</a:t>
            </a:r>
            <a:r>
              <a:rPr lang="ru-RU" b="0" dirty="0" smtClean="0">
                <a:effectLst/>
              </a:rPr>
              <a:t> КЛИЕНТОВ МАРКЕТПЛЕЙСА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5229200"/>
            <a:ext cx="6400800" cy="719194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Выполнил: Шабалин Линар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23528" y="3861048"/>
            <a:ext cx="8229600" cy="604664"/>
          </a:xfrm>
          <a:prstGeom prst="rect">
            <a:avLst/>
          </a:prstGeom>
        </p:spPr>
        <p:txBody>
          <a:bodyPr vert="horz" lIns="45720" tIns="0" rIns="45720" bIns="0" anchor="b">
            <a:normAutofit fontScale="97500"/>
            <a:scene3d>
              <a:camera prst="orthographicFront"/>
              <a:lightRig rig="soft" dir="t">
                <a:rot lat="0" lon="0" rev="17220000"/>
              </a:lightRig>
            </a:scene3d>
            <a:sp3d prstMaterial="softEdge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800" b="1" kern="1200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0" dirty="0" smtClean="0">
                <a:effectLst/>
              </a:rPr>
              <a:t>Анализ КЛИЕНТСКОЙ БАЗЫ за 2023 год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3399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ЦЕЛЬ И ДАННЫЕ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Цель:</a:t>
            </a:r>
            <a:r>
              <a:rPr lang="ru-RU" dirty="0">
                <a:solidFill>
                  <a:schemeClr val="bg1"/>
                </a:solidFill>
              </a:rPr>
              <a:t> выявить сегменты клиентов и предложить меры для увеличения их пожизненной ценности (LTV</a:t>
            </a:r>
            <a:r>
              <a:rPr lang="ru-RU" dirty="0" smtClean="0">
                <a:solidFill>
                  <a:schemeClr val="bg1"/>
                </a:solidFill>
              </a:rPr>
              <a:t>).</a:t>
            </a:r>
          </a:p>
          <a:p>
            <a:r>
              <a:rPr lang="ru-RU" b="1" dirty="0" smtClean="0">
                <a:solidFill>
                  <a:schemeClr val="bg1"/>
                </a:solidFill>
              </a:rPr>
              <a:t>Данные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транзакции клиентов за 2023 год (всего </a:t>
            </a:r>
            <a:r>
              <a:rPr lang="ru-RU" dirty="0" smtClean="0">
                <a:solidFill>
                  <a:schemeClr val="bg1"/>
                </a:solidFill>
              </a:rPr>
              <a:t>8953 </a:t>
            </a:r>
            <a:r>
              <a:rPr lang="ru-RU" dirty="0">
                <a:solidFill>
                  <a:schemeClr val="bg1"/>
                </a:solidFill>
              </a:rPr>
              <a:t>уникальных клиентов</a:t>
            </a:r>
            <a:r>
              <a:rPr lang="ru-RU" dirty="0" smtClean="0">
                <a:solidFill>
                  <a:schemeClr val="bg1"/>
                </a:solidFill>
              </a:rPr>
              <a:t>)</a:t>
            </a:r>
          </a:p>
          <a:p>
            <a:r>
              <a:rPr lang="ru-RU" b="1" dirty="0" smtClean="0">
                <a:solidFill>
                  <a:schemeClr val="bg1"/>
                </a:solidFill>
              </a:rPr>
              <a:t>Методы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 </a:t>
            </a:r>
            <a:r>
              <a:rPr lang="en-US" dirty="0">
                <a:solidFill>
                  <a:schemeClr val="bg1"/>
                </a:solidFill>
              </a:rPr>
              <a:t>RFM-</a:t>
            </a:r>
            <a:r>
              <a:rPr lang="en-US" dirty="0" err="1">
                <a:solidFill>
                  <a:schemeClr val="bg1"/>
                </a:solidFill>
              </a:rPr>
              <a:t>сегментация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Recency</a:t>
            </a:r>
            <a:r>
              <a:rPr lang="en-US" dirty="0">
                <a:solidFill>
                  <a:schemeClr val="bg1"/>
                </a:solidFill>
              </a:rPr>
              <a:t>, Frequency, Monetary), </a:t>
            </a:r>
            <a:r>
              <a:rPr lang="en-US" dirty="0" err="1">
                <a:solidFill>
                  <a:schemeClr val="bg1"/>
                </a:solidFill>
              </a:rPr>
              <a:t>когортный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анализ</a:t>
            </a:r>
            <a:r>
              <a:rPr lang="en-US" dirty="0">
                <a:solidFill>
                  <a:schemeClr val="bg1"/>
                </a:solidFill>
              </a:rPr>
              <a:t> LTV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  <a:p>
            <a:pPr marL="13716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43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smtClean="0">
                <a:effectLst/>
              </a:rPr>
              <a:t>RFM</a:t>
            </a:r>
            <a:r>
              <a:rPr lang="ru-RU" b="0" dirty="0" smtClean="0">
                <a:effectLst/>
              </a:rPr>
              <a:t> - СЕГМЕНТАЦИЯ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5492362"/>
              </p:ext>
            </p:extLst>
          </p:nvPr>
        </p:nvGraphicFramePr>
        <p:xfrm>
          <a:off x="457200" y="1600200"/>
          <a:ext cx="8229600" cy="187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Others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134300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Loyal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24732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Champions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24581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 Risk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12463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5576" y="4005064"/>
            <a:ext cx="77048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solidFill>
                  <a:schemeClr val="bg1"/>
                </a:solidFill>
              </a:rPr>
              <a:t>Описание сегментов:</a:t>
            </a:r>
            <a:endParaRPr lang="ru-RU" sz="2400" dirty="0">
              <a:solidFill>
                <a:schemeClr val="bg1"/>
              </a:solidFill>
            </a:endParaRPr>
          </a:p>
          <a:p>
            <a:pPr algn="just"/>
            <a:r>
              <a:rPr lang="ru-RU" sz="2400" b="1" dirty="0" err="1">
                <a:solidFill>
                  <a:schemeClr val="bg1"/>
                </a:solidFill>
              </a:rPr>
              <a:t>Champions</a:t>
            </a:r>
            <a:r>
              <a:rPr lang="ru-RU" sz="2400" dirty="0">
                <a:solidFill>
                  <a:schemeClr val="bg1"/>
                </a:solidFill>
              </a:rPr>
              <a:t> – недавние, частые, много тратят.</a:t>
            </a:r>
          </a:p>
          <a:p>
            <a:pPr algn="just"/>
            <a:r>
              <a:rPr lang="ru-RU" sz="2400" b="1" dirty="0" err="1">
                <a:solidFill>
                  <a:schemeClr val="bg1"/>
                </a:solidFill>
              </a:rPr>
              <a:t>Loyal</a:t>
            </a:r>
            <a:r>
              <a:rPr lang="ru-RU" sz="2400" dirty="0">
                <a:solidFill>
                  <a:schemeClr val="bg1"/>
                </a:solidFill>
              </a:rPr>
              <a:t> – лояльные, но не лидеры.</a:t>
            </a:r>
          </a:p>
          <a:p>
            <a:pPr algn="just"/>
            <a:r>
              <a:rPr lang="ru-RU" sz="2400" b="1" dirty="0" smtClean="0">
                <a:solidFill>
                  <a:schemeClr val="bg1"/>
                </a:solidFill>
              </a:rPr>
              <a:t>At </a:t>
            </a:r>
            <a:r>
              <a:rPr lang="ru-RU" sz="2400" b="1" dirty="0">
                <a:solidFill>
                  <a:schemeClr val="bg1"/>
                </a:solidFill>
              </a:rPr>
              <a:t>Risk</a:t>
            </a:r>
            <a:r>
              <a:rPr lang="ru-RU" sz="2400" dirty="0">
                <a:solidFill>
                  <a:schemeClr val="bg1"/>
                </a:solidFill>
              </a:rPr>
              <a:t> – давно не покупали, но раньше тратили.</a:t>
            </a:r>
          </a:p>
          <a:p>
            <a:pPr algn="just"/>
            <a:r>
              <a:rPr lang="ru-RU" sz="2400" b="1" dirty="0" err="1">
                <a:solidFill>
                  <a:schemeClr val="bg1"/>
                </a:solidFill>
              </a:rPr>
              <a:t>Others</a:t>
            </a:r>
            <a:r>
              <a:rPr lang="ru-RU" sz="2400" dirty="0">
                <a:solidFill>
                  <a:schemeClr val="bg1"/>
                </a:solidFill>
              </a:rPr>
              <a:t> – остальные.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213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РЕКОМЕНДАЦИИ ПО СЕГМЕНТАМ</a:t>
            </a:r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467544" y="1844824"/>
            <a:ext cx="8229600" cy="4709160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Группа </a:t>
            </a:r>
            <a:r>
              <a:rPr lang="en-US" b="1" dirty="0" smtClean="0">
                <a:solidFill>
                  <a:schemeClr val="bg1"/>
                </a:solidFill>
              </a:rPr>
              <a:t>Champions</a:t>
            </a:r>
            <a:r>
              <a:rPr lang="ru-RU" b="1" dirty="0" smtClean="0">
                <a:solidFill>
                  <a:schemeClr val="bg1"/>
                </a:solidFill>
              </a:rPr>
              <a:t>. Рекомендации - </a:t>
            </a:r>
            <a:r>
              <a:rPr lang="ru-RU" dirty="0">
                <a:solidFill>
                  <a:schemeClr val="bg1"/>
                </a:solidFill>
              </a:rPr>
              <a:t>Реферальная программа: давать бонус за приведённого друга. Эксклюзивные скидки на новые коллекции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Группа </a:t>
            </a:r>
            <a:r>
              <a:rPr lang="en-US" b="1" dirty="0" smtClean="0">
                <a:solidFill>
                  <a:schemeClr val="bg1"/>
                </a:solidFill>
              </a:rPr>
              <a:t>Loyal</a:t>
            </a:r>
            <a:r>
              <a:rPr lang="ru-RU" b="1" dirty="0" smtClean="0">
                <a:solidFill>
                  <a:schemeClr val="bg1"/>
                </a:solidFill>
              </a:rPr>
              <a:t>. </a:t>
            </a:r>
            <a:r>
              <a:rPr lang="ru-RU" b="1" dirty="0">
                <a:solidFill>
                  <a:schemeClr val="bg1"/>
                </a:solidFill>
              </a:rPr>
              <a:t>Рекомендации - </a:t>
            </a:r>
            <a:r>
              <a:rPr lang="ru-RU" dirty="0">
                <a:solidFill>
                  <a:schemeClr val="bg1"/>
                </a:solidFill>
              </a:rPr>
              <a:t>Программа лояльности (накопительные баллы). Кросс-продажи: предлагать сопутствующие товары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Группа </a:t>
            </a:r>
            <a:r>
              <a:rPr lang="en-US" b="1" dirty="0" smtClean="0">
                <a:solidFill>
                  <a:schemeClr val="bg1"/>
                </a:solidFill>
              </a:rPr>
              <a:t>At Risk</a:t>
            </a:r>
            <a:r>
              <a:rPr lang="ru-RU" b="1" dirty="0" smtClean="0">
                <a:solidFill>
                  <a:schemeClr val="bg1"/>
                </a:solidFill>
              </a:rPr>
              <a:t>. </a:t>
            </a:r>
            <a:r>
              <a:rPr lang="ru-RU" b="1" dirty="0">
                <a:solidFill>
                  <a:schemeClr val="bg1"/>
                </a:solidFill>
              </a:rPr>
              <a:t>Рекомендации - </a:t>
            </a:r>
            <a:r>
              <a:rPr lang="ru-RU" dirty="0" err="1">
                <a:solidFill>
                  <a:schemeClr val="bg1"/>
                </a:solidFill>
              </a:rPr>
              <a:t>Reactivation</a:t>
            </a:r>
            <a:r>
              <a:rPr lang="ru-RU" dirty="0">
                <a:solidFill>
                  <a:schemeClr val="bg1"/>
                </a:solidFill>
              </a:rPr>
              <a:t>-кампания: </a:t>
            </a:r>
            <a:r>
              <a:rPr lang="ru-RU" dirty="0" err="1">
                <a:solidFill>
                  <a:schemeClr val="bg1"/>
                </a:solidFill>
              </a:rPr>
              <a:t>email</a:t>
            </a:r>
            <a:r>
              <a:rPr lang="ru-RU" dirty="0">
                <a:solidFill>
                  <a:schemeClr val="bg1"/>
                </a:solidFill>
              </a:rPr>
              <a:t> с персональным предложением (15% скидка) и напоминание о забытых товарах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Группа </a:t>
            </a:r>
            <a:r>
              <a:rPr lang="en-US" b="1" dirty="0" smtClean="0">
                <a:solidFill>
                  <a:schemeClr val="bg1"/>
                </a:solidFill>
              </a:rPr>
              <a:t>Others</a:t>
            </a:r>
            <a:r>
              <a:rPr lang="ru-RU" b="1" dirty="0" smtClean="0">
                <a:solidFill>
                  <a:schemeClr val="bg1"/>
                </a:solidFill>
              </a:rPr>
              <a:t>. </a:t>
            </a:r>
            <a:r>
              <a:rPr lang="ru-RU" b="1" dirty="0">
                <a:solidFill>
                  <a:schemeClr val="bg1"/>
                </a:solidFill>
              </a:rPr>
              <a:t>Рекомендации - </a:t>
            </a:r>
            <a:r>
              <a:rPr lang="ru-RU" dirty="0">
                <a:solidFill>
                  <a:schemeClr val="bg1"/>
                </a:solidFill>
              </a:rPr>
              <a:t>Стандартные коммуникации, поддерживать через общие рассылки.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498178"/>
          </a:xfrm>
        </p:spPr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КОГОРТНЫЙ АНАЛИЗ </a:t>
            </a:r>
            <a:r>
              <a:rPr lang="en-US" b="0" dirty="0" smtClean="0">
                <a:effectLst/>
              </a:rPr>
              <a:t>LTV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06" y="1600200"/>
            <a:ext cx="6259188" cy="4708525"/>
          </a:xfrm>
        </p:spPr>
      </p:pic>
    </p:spTree>
    <p:extLst>
      <p:ext uri="{BB962C8B-B14F-4D97-AF65-F5344CB8AC3E}">
        <p14:creationId xmlns:p14="http://schemas.microsoft.com/office/powerpoint/2010/main" val="290289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Интерпретация квадрантов: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Когорта </a:t>
            </a:r>
            <a:r>
              <a:rPr lang="ru-RU" dirty="0" smtClean="0">
                <a:solidFill>
                  <a:schemeClr val="bg1"/>
                </a:solidFill>
              </a:rPr>
              <a:t>январь - 2023 </a:t>
            </a:r>
            <a:r>
              <a:rPr lang="ru-RU" dirty="0">
                <a:solidFill>
                  <a:schemeClr val="bg1"/>
                </a:solidFill>
              </a:rPr>
              <a:t>имеет LTV на </a:t>
            </a:r>
            <a:r>
              <a:rPr lang="ru-RU" b="1" dirty="0">
                <a:solidFill>
                  <a:schemeClr val="bg1"/>
                </a:solidFill>
              </a:rPr>
              <a:t>30% выше</a:t>
            </a:r>
            <a:r>
              <a:rPr lang="ru-RU" dirty="0">
                <a:solidFill>
                  <a:schemeClr val="bg1"/>
                </a:solidFill>
              </a:rPr>
              <a:t>, чем когорта </a:t>
            </a:r>
            <a:r>
              <a:rPr lang="ru-RU" dirty="0" smtClean="0">
                <a:solidFill>
                  <a:schemeClr val="bg1"/>
                </a:solidFill>
              </a:rPr>
              <a:t>июль - 2023.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Более ранние когорты демонстрируют стабильно высокий LTV, что говорит о хорошем удержании.</a:t>
            </a:r>
          </a:p>
          <a:p>
            <a:r>
              <a:rPr lang="ru-RU" dirty="0">
                <a:solidFill>
                  <a:schemeClr val="bg1"/>
                </a:solidFill>
              </a:rPr>
              <a:t>У новых когорт (вторая половина года) LTV падает – вероятно, проблема в онбординге.</a:t>
            </a:r>
          </a:p>
          <a:p>
            <a:pPr marL="13716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Вывод</a:t>
            </a:r>
            <a:r>
              <a:rPr lang="ru-RU" b="1" dirty="0">
                <a:solidFill>
                  <a:schemeClr val="bg1"/>
                </a:solidFill>
              </a:rPr>
              <a:t>: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Клиенты, пришедшие в начале года, более ценны. Это может быть связано с сезонностью или качеством трафика.</a:t>
            </a:r>
          </a:p>
          <a:p>
            <a:r>
              <a:rPr lang="ru-RU" dirty="0">
                <a:solidFill>
                  <a:schemeClr val="bg1"/>
                </a:solidFill>
              </a:rPr>
              <a:t>Нужно улучшить процесс знакомства новых клиентов с платформой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95536" y="53412"/>
            <a:ext cx="8435280" cy="1498178"/>
          </a:xfrm>
          <a:prstGeom prst="rect">
            <a:avLst/>
          </a:prstGeom>
        </p:spPr>
        <p:txBody>
          <a:bodyPr vert="horz" anchor="ctr">
            <a:normAutofit fontScale="97500"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b="0" dirty="0">
                <a:effectLst/>
              </a:rPr>
              <a:t>КОГОРТНЫЙ АНАЛИЗ </a:t>
            </a:r>
            <a:r>
              <a:rPr lang="en-US" b="0" dirty="0">
                <a:effectLst/>
              </a:rPr>
              <a:t>LTV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66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ПРЕДЛОЖЕНИЯ ПО УВЕЛИЧЕНИЮ </a:t>
            </a:r>
            <a:r>
              <a:rPr lang="en-US" b="0" dirty="0" smtClean="0">
                <a:effectLst/>
              </a:rPr>
              <a:t>LTV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457200" y="1844824"/>
            <a:ext cx="8435280" cy="4608512"/>
          </a:xfrm>
        </p:spPr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Для всех новых клиентов</a:t>
            </a:r>
            <a:r>
              <a:rPr lang="ru-RU" dirty="0">
                <a:solidFill>
                  <a:schemeClr val="bg1"/>
                </a:solidFill>
              </a:rPr>
              <a:t> внедрить приветственную серию из 3 писем: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Письмо 1: благодарность и ссылка на руководство пользователя.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Письмо 2 (через 3 дня): рекомендации товаров на основе просмотров.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Письмо 3 (через 7 дней): предложение скидки на второй заказ.</a:t>
            </a:r>
          </a:p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Для сегмента «At Risk»</a:t>
            </a:r>
            <a:r>
              <a:rPr lang="ru-RU" dirty="0">
                <a:solidFill>
                  <a:schemeClr val="bg1"/>
                </a:solidFill>
              </a:rPr>
              <a:t> запустить автоматическую кампанию: если клиент не покупал 30 дней, отправлять </a:t>
            </a:r>
            <a:r>
              <a:rPr lang="ru-RU" dirty="0" smtClean="0">
                <a:solidFill>
                  <a:schemeClr val="bg1"/>
                </a:solidFill>
              </a:rPr>
              <a:t>push - уведомление </a:t>
            </a:r>
            <a:r>
              <a:rPr lang="ru-RU" dirty="0">
                <a:solidFill>
                  <a:schemeClr val="bg1"/>
                </a:solidFill>
              </a:rPr>
              <a:t>с персональной скидкой.</a:t>
            </a:r>
          </a:p>
          <a:p>
            <a:pPr marL="137160" indent="0">
              <a:buNone/>
            </a:pPr>
            <a:r>
              <a:rPr lang="ru-RU" b="1" dirty="0">
                <a:solidFill>
                  <a:schemeClr val="bg1"/>
                </a:solidFill>
              </a:rPr>
              <a:t>Ввести программу лояльности</a:t>
            </a:r>
            <a:r>
              <a:rPr lang="ru-RU" dirty="0">
                <a:solidFill>
                  <a:schemeClr val="bg1"/>
                </a:solidFill>
              </a:rPr>
              <a:t> с накоплением баллов (1 балл = 1 рубль скидки) для всех клиентов, совершивших более 3 покупок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244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40960" cy="1498178"/>
          </a:xfrm>
        </p:spPr>
        <p:txBody>
          <a:bodyPr>
            <a:normAutofit/>
          </a:bodyPr>
          <a:lstStyle/>
          <a:p>
            <a:r>
              <a:rPr lang="ru-RU" dirty="0" smtClean="0">
                <a:effectLst/>
              </a:rPr>
              <a:t>ОЖИДАЕМЫЙ ЭФФЕКТ</a:t>
            </a:r>
            <a:endParaRPr lang="en-US" dirty="0">
              <a:effectLst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70916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Увеличение частоты покупок у новых клиентов на </a:t>
            </a:r>
            <a:r>
              <a:rPr lang="ru-RU" b="1" dirty="0">
                <a:solidFill>
                  <a:schemeClr val="bg1"/>
                </a:solidFill>
              </a:rPr>
              <a:t>15–20%</a:t>
            </a:r>
            <a:r>
              <a:rPr lang="ru-RU" dirty="0">
                <a:solidFill>
                  <a:schemeClr val="bg1"/>
                </a:solidFill>
              </a:rPr>
              <a:t> (за счёт приветственных предложений).</a:t>
            </a:r>
          </a:p>
          <a:p>
            <a:r>
              <a:rPr lang="ru-RU" dirty="0">
                <a:solidFill>
                  <a:schemeClr val="bg1"/>
                </a:solidFill>
              </a:rPr>
              <a:t>Возврат </a:t>
            </a:r>
            <a:r>
              <a:rPr lang="ru-RU" b="1" dirty="0">
                <a:solidFill>
                  <a:schemeClr val="bg1"/>
                </a:solidFill>
              </a:rPr>
              <a:t>30%</a:t>
            </a:r>
            <a:r>
              <a:rPr lang="ru-RU" dirty="0">
                <a:solidFill>
                  <a:schemeClr val="bg1"/>
                </a:solidFill>
              </a:rPr>
              <a:t> клиентов из сегмента «At Risk».</a:t>
            </a:r>
          </a:p>
          <a:p>
            <a:r>
              <a:rPr lang="ru-RU" dirty="0">
                <a:solidFill>
                  <a:schemeClr val="bg1"/>
                </a:solidFill>
              </a:rPr>
              <a:t>Рост среднего LTV для всех когорт на </a:t>
            </a:r>
            <a:r>
              <a:rPr lang="ru-RU" b="1" dirty="0">
                <a:solidFill>
                  <a:schemeClr val="bg1"/>
                </a:solidFill>
              </a:rPr>
              <a:t>10–15%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Общий рост выручки за счёт клиентской базы: </a:t>
            </a:r>
            <a:r>
              <a:rPr lang="ru-RU" b="1" dirty="0">
                <a:solidFill>
                  <a:schemeClr val="bg1"/>
                </a:solidFill>
              </a:rPr>
              <a:t>~5–8%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700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dirty="0" smtClean="0">
                <a:effectLst/>
              </a:rPr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70916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Клиентская база неоднородна, нужно работать с каждым сегментом </a:t>
            </a:r>
            <a:r>
              <a:rPr lang="ru-RU" dirty="0" err="1">
                <a:solidFill>
                  <a:schemeClr val="bg1"/>
                </a:solidFill>
              </a:rPr>
              <a:t>персонализированно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Внедрение программ лояльности и </a:t>
            </a:r>
            <a:r>
              <a:rPr lang="ru-RU" dirty="0" err="1">
                <a:solidFill>
                  <a:schemeClr val="bg1"/>
                </a:solidFill>
              </a:rPr>
              <a:t>реактивационных</a:t>
            </a:r>
            <a:r>
              <a:rPr lang="ru-RU" dirty="0">
                <a:solidFill>
                  <a:schemeClr val="bg1"/>
                </a:solidFill>
              </a:rPr>
              <a:t> кампаний повысит LTV и общую лояльность.</a:t>
            </a:r>
          </a:p>
          <a:p>
            <a:r>
              <a:rPr lang="ru-RU" dirty="0">
                <a:solidFill>
                  <a:schemeClr val="bg1"/>
                </a:solidFill>
              </a:rPr>
              <a:t>Рекомендуется также проанализировать каналы привлечения (если будут данные) для улучшения качества новых клиентов.</a:t>
            </a:r>
          </a:p>
          <a:p>
            <a:pPr marL="13716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100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210</TotalTime>
  <Words>187</Words>
  <Application>Microsoft Office PowerPoint</Application>
  <PresentationFormat>Экран (4:3)</PresentationFormat>
  <Paragraphs>54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Апекс</vt:lpstr>
      <vt:lpstr>ПОВЫШЕНИЕ LTV КЛИЕНТОВ МАРКЕТПЛЕЙСА</vt:lpstr>
      <vt:lpstr>ЦЕЛЬ И ДАННЫЕ</vt:lpstr>
      <vt:lpstr>RFM - СЕГМЕНТАЦИЯ</vt:lpstr>
      <vt:lpstr>РЕКОМЕНДАЦИИ ПО СЕГМЕНТАМ</vt:lpstr>
      <vt:lpstr>КОГОРТНЫЙ АНАЛИЗ LTV</vt:lpstr>
      <vt:lpstr>Презентация PowerPoint</vt:lpstr>
      <vt:lpstr>ПРЕДЛОЖЕНИЯ ПО УВЕЛИЧЕНИЮ LTV</vt:lpstr>
      <vt:lpstr>ОЖИДАЕМЫЙ ЭФФЕКТ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Место психологии в системе наук о человеке</dc:title>
  <dc:creator>Linar</dc:creator>
  <cp:lastModifiedBy>Linar</cp:lastModifiedBy>
  <cp:revision>22</cp:revision>
  <dcterms:created xsi:type="dcterms:W3CDTF">2026-04-13T04:25:34Z</dcterms:created>
  <dcterms:modified xsi:type="dcterms:W3CDTF">2026-07-23T15:36:57Z</dcterms:modified>
</cp:coreProperties>
</file>